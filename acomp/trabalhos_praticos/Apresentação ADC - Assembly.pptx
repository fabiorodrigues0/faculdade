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4" d="100"/>
          <a:sy n="64" d="100"/>
        </p:scale>
        <p:origin x="724" y="52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783577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79847410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2983508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79272790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72958063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44926239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11266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13978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22150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53B3D7-2B8F-EF0F-7B65-971715EB57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71024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02479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457351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74C38D-23AE-5FB6-4CC0-8C438AD8EC7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55756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418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874557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AF7C5A-ECEE-135F-FA31-0FA9E584307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08530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52351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892622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D24846-F818-9597-8034-326014A1FEA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37315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7854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40036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4B30C5-49BE-58AF-1FC9-4D92DBDEC52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93750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98759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262622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642BCA9-400F-F537-A580-6F1B0BD09E0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00986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2465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40921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C3062D8-435B-5319-F304-58FAACF7086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03522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238661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6488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20273F-29A6-DB43-A00B-5763926ED2F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41343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38810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78496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17D42F0-7262-6253-AE4F-768D50252D2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4648356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/>
          </a:p>
        </p:txBody>
      </p:sp>
      <p:sp>
        <p:nvSpPr>
          <p:cNvPr id="161346800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GB"/>
              <a:t>Click to edit Master subtitle style</a:t>
            </a:r>
            <a:endParaRPr/>
          </a:p>
        </p:txBody>
      </p:sp>
      <p:sp>
        <p:nvSpPr>
          <p:cNvPr id="209191980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A5A3E37-5CAF-4B53-B5AD-ED3A5CFF03D4}" type="datetimeFigureOut">
              <a:rPr lang="en-GB"/>
              <a:t>15/01/2026</a:t>
            </a:fld>
            <a:endParaRPr lang="en-GB"/>
          </a:p>
        </p:txBody>
      </p:sp>
      <p:sp>
        <p:nvSpPr>
          <p:cNvPr id="165640347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82600998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6295227-B3AB-404D-8EC4-A0939454E341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120900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/>
          </a:p>
        </p:txBody>
      </p:sp>
      <p:sp>
        <p:nvSpPr>
          <p:cNvPr id="129486290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/>
          </a:p>
        </p:txBody>
      </p:sp>
      <p:sp>
        <p:nvSpPr>
          <p:cNvPr id="176040925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A5A3E37-5CAF-4B53-B5AD-ED3A5CFF03D4}" type="datetimeFigureOut">
              <a:rPr lang="en-GB"/>
              <a:t>15/01/2026</a:t>
            </a:fld>
            <a:endParaRPr lang="en-GB"/>
          </a:p>
        </p:txBody>
      </p:sp>
      <p:sp>
        <p:nvSpPr>
          <p:cNvPr id="122627149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62370691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6295227-B3AB-404D-8EC4-A0939454E341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0784790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/>
          </a:p>
        </p:txBody>
      </p:sp>
      <p:sp>
        <p:nvSpPr>
          <p:cNvPr id="64447440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199453223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A5A3E37-5CAF-4B53-B5AD-ED3A5CFF03D4}" type="datetimeFigureOut">
              <a:rPr lang="en-GB"/>
              <a:t>15/01/2026</a:t>
            </a:fld>
            <a:endParaRPr lang="en-GB"/>
          </a:p>
        </p:txBody>
      </p:sp>
      <p:sp>
        <p:nvSpPr>
          <p:cNvPr id="95749882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8497254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6295227-B3AB-404D-8EC4-A0939454E341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0256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/>
          </a:p>
        </p:txBody>
      </p:sp>
      <p:sp>
        <p:nvSpPr>
          <p:cNvPr id="459701220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/>
          </a:p>
        </p:txBody>
      </p:sp>
      <p:sp>
        <p:nvSpPr>
          <p:cNvPr id="143577418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/>
          </a:p>
        </p:txBody>
      </p:sp>
      <p:sp>
        <p:nvSpPr>
          <p:cNvPr id="29840249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A5A3E37-5CAF-4B53-B5AD-ED3A5CFF03D4}" type="datetimeFigureOut">
              <a:rPr lang="en-GB"/>
              <a:t>15/01/2026</a:t>
            </a:fld>
            <a:endParaRPr lang="en-GB"/>
          </a:p>
        </p:txBody>
      </p:sp>
      <p:sp>
        <p:nvSpPr>
          <p:cNvPr id="128598220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4796420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6295227-B3AB-404D-8EC4-A0939454E341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8735221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/>
          </a:p>
        </p:txBody>
      </p:sp>
      <p:sp>
        <p:nvSpPr>
          <p:cNvPr id="12235617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90189575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/>
          </a:p>
        </p:txBody>
      </p:sp>
      <p:sp>
        <p:nvSpPr>
          <p:cNvPr id="63947135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194908286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/>
          </a:p>
        </p:txBody>
      </p:sp>
      <p:sp>
        <p:nvSpPr>
          <p:cNvPr id="2020711123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A5A3E37-5CAF-4B53-B5AD-ED3A5CFF03D4}" type="datetimeFigureOut">
              <a:rPr lang="en-GB"/>
              <a:t>15/01/2026</a:t>
            </a:fld>
            <a:endParaRPr lang="en-GB"/>
          </a:p>
        </p:txBody>
      </p:sp>
      <p:sp>
        <p:nvSpPr>
          <p:cNvPr id="99281763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30660833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6295227-B3AB-404D-8EC4-A0939454E341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289684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/>
          </a:p>
        </p:txBody>
      </p:sp>
      <p:sp>
        <p:nvSpPr>
          <p:cNvPr id="1553786888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A5A3E37-5CAF-4B53-B5AD-ED3A5CFF03D4}" type="datetimeFigureOut">
              <a:rPr lang="en-GB"/>
              <a:t>15/01/2026</a:t>
            </a:fld>
            <a:endParaRPr lang="en-GB"/>
          </a:p>
        </p:txBody>
      </p:sp>
      <p:sp>
        <p:nvSpPr>
          <p:cNvPr id="51376007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736587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6295227-B3AB-404D-8EC4-A0939454E341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6457307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A5A3E37-5CAF-4B53-B5AD-ED3A5CFF03D4}" type="datetimeFigureOut">
              <a:rPr lang="en-GB"/>
              <a:t>15/01/2026</a:t>
            </a:fld>
            <a:endParaRPr lang="en-GB"/>
          </a:p>
        </p:txBody>
      </p:sp>
      <p:sp>
        <p:nvSpPr>
          <p:cNvPr id="1666444377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80294740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6295227-B3AB-404D-8EC4-A0939454E341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6479950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/>
          </a:p>
        </p:txBody>
      </p:sp>
      <p:sp>
        <p:nvSpPr>
          <p:cNvPr id="1837377897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/>
          </a:p>
        </p:txBody>
      </p:sp>
      <p:sp>
        <p:nvSpPr>
          <p:cNvPr id="30382411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49462295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A5A3E37-5CAF-4B53-B5AD-ED3A5CFF03D4}" type="datetimeFigureOut">
              <a:rPr lang="en-GB"/>
              <a:t>15/01/2026</a:t>
            </a:fld>
            <a:endParaRPr lang="en-GB"/>
          </a:p>
        </p:txBody>
      </p:sp>
      <p:sp>
        <p:nvSpPr>
          <p:cNvPr id="100183233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86868988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6295227-B3AB-404D-8EC4-A0939454E341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2309258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/>
          </a:p>
        </p:txBody>
      </p:sp>
      <p:sp>
        <p:nvSpPr>
          <p:cNvPr id="1245250684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GB"/>
          </a:p>
        </p:txBody>
      </p:sp>
      <p:sp>
        <p:nvSpPr>
          <p:cNvPr id="115737609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28234820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A5A3E37-5CAF-4B53-B5AD-ED3A5CFF03D4}" type="datetimeFigureOut">
              <a:rPr lang="en-GB"/>
              <a:t>15/01/2026</a:t>
            </a:fld>
            <a:endParaRPr lang="en-GB"/>
          </a:p>
        </p:txBody>
      </p:sp>
      <p:sp>
        <p:nvSpPr>
          <p:cNvPr id="134562321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81979636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6295227-B3AB-404D-8EC4-A0939454E341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678787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/>
          </a:p>
        </p:txBody>
      </p:sp>
      <p:sp>
        <p:nvSpPr>
          <p:cNvPr id="1413649047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/>
          </a:p>
        </p:txBody>
      </p:sp>
      <p:sp>
        <p:nvSpPr>
          <p:cNvPr id="53642015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A5A3E37-5CAF-4B53-B5AD-ED3A5CFF03D4}" type="datetimeFigureOut">
              <a:rPr lang="en-GB"/>
              <a:t>15/01/2026</a:t>
            </a:fld>
            <a:endParaRPr lang="en-GB"/>
          </a:p>
        </p:txBody>
      </p:sp>
      <p:sp>
        <p:nvSpPr>
          <p:cNvPr id="321970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43821679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6295227-B3AB-404D-8EC4-A0939454E341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0365256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GB"/>
              <a:t>Click to edit Master title style</a:t>
            </a:r>
            <a:endParaRPr/>
          </a:p>
        </p:txBody>
      </p:sp>
      <p:sp>
        <p:nvSpPr>
          <p:cNvPr id="108047436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/>
          </a:p>
        </p:txBody>
      </p:sp>
      <p:sp>
        <p:nvSpPr>
          <p:cNvPr id="159804921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A5A3E37-5CAF-4B53-B5AD-ED3A5CFF03D4}" type="datetimeFigureOut">
              <a:rPr lang="en-GB"/>
              <a:t>15/01/2026</a:t>
            </a:fld>
            <a:endParaRPr lang="en-GB"/>
          </a:p>
        </p:txBody>
      </p:sp>
      <p:sp>
        <p:nvSpPr>
          <p:cNvPr id="155984300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60108336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6295227-B3AB-404D-8EC4-A0939454E341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749805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GB"/>
              <a:t>Click to edit Master title style</a:t>
            </a:r>
            <a:endParaRPr/>
          </a:p>
        </p:txBody>
      </p:sp>
      <p:sp>
        <p:nvSpPr>
          <p:cNvPr id="174992261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/>
          </a:p>
        </p:txBody>
      </p:sp>
      <p:sp>
        <p:nvSpPr>
          <p:cNvPr id="78619560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A5A3E37-5CAF-4B53-B5AD-ED3A5CFF03D4}" type="datetimeFigureOut">
              <a:rPr lang="en-GB"/>
              <a:t>15/01/2026</a:t>
            </a:fld>
            <a:endParaRPr lang="en-GB"/>
          </a:p>
        </p:txBody>
      </p:sp>
      <p:sp>
        <p:nvSpPr>
          <p:cNvPr id="137834545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8616965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6295227-B3AB-404D-8EC4-A0939454E341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1389156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Assembly</a:t>
            </a:r>
            <a:endParaRPr/>
          </a:p>
        </p:txBody>
      </p:sp>
      <p:sp>
        <p:nvSpPr>
          <p:cNvPr id="1726631861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7509927" name="Text 0"/>
          <p:cNvSpPr/>
          <p:nvPr/>
        </p:nvSpPr>
        <p:spPr bwMode="auto">
          <a:xfrm flipH="0" flipV="0">
            <a:off x="838813" y="507998"/>
            <a:ext cx="10591184" cy="50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98"/>
              </a:lnSpc>
              <a:spcAft>
                <a:spcPts val="1873"/>
              </a:spcAft>
              <a:buNone/>
              <a:defRPr/>
            </a:pPr>
            <a:r>
              <a:rPr lang="pt-PT" sz="2700" b="1">
                <a:solidFill>
                  <a:srgbClr val="1E3A8A"/>
                </a:solidFill>
                <a:latin typeface="Arial"/>
                <a:ea typeface="Arial"/>
                <a:cs typeface="Arial"/>
              </a:rPr>
              <a:t>Sistemas </a:t>
            </a:r>
            <a:r>
              <a:rPr lang="pt-BR" sz="2700" b="1">
                <a:solidFill>
                  <a:srgbClr val="1E3A8A"/>
                </a:solidFill>
                <a:latin typeface="Arial"/>
                <a:ea typeface="Arial"/>
                <a:cs typeface="Arial"/>
              </a:rPr>
              <a:t>“Embedded”</a:t>
            </a:r>
            <a:r>
              <a:rPr lang="pt-BR" sz="2700" b="1">
                <a:solidFill>
                  <a:srgbClr val="1E3A8A"/>
                </a:solidFill>
                <a:latin typeface="Arial"/>
                <a:ea typeface="Arial"/>
                <a:cs typeface="Arial"/>
              </a:rPr>
              <a:t>,</a:t>
            </a:r>
            <a:r>
              <a:rPr lang="pt-PT" sz="2700" b="1">
                <a:solidFill>
                  <a:srgbClr val="1E3A8A"/>
                </a:solidFill>
                <a:latin typeface="Arial"/>
                <a:ea typeface="Arial"/>
                <a:cs typeface="Arial"/>
              </a:rPr>
              <a:t> IoT</a:t>
            </a:r>
            <a:r>
              <a:rPr lang="pt-BR" sz="2700" b="1">
                <a:solidFill>
                  <a:srgbClr val="1E3A8A"/>
                </a:solidFill>
                <a:latin typeface="Arial"/>
                <a:ea typeface="Arial"/>
                <a:cs typeface="Arial"/>
              </a:rPr>
              <a:t> e </a:t>
            </a:r>
            <a:r>
              <a:rPr lang="pt-PT" sz="2700" b="1" i="0" u="none" strike="noStrike" cap="none" spc="0">
                <a:solidFill>
                  <a:srgbClr val="1E3A8A"/>
                </a:solidFill>
                <a:latin typeface="Arial"/>
                <a:ea typeface="Arial"/>
                <a:cs typeface="Arial"/>
              </a:rPr>
              <a:t>Sistemas Críticos de Segurança</a:t>
            </a:r>
            <a:endParaRPr sz="2700"/>
          </a:p>
          <a:p>
            <a:pPr marL="0" indent="0" algn="l">
              <a:lnSpc>
                <a:spcPts val="2998"/>
              </a:lnSpc>
              <a:spcAft>
                <a:spcPts val="1873"/>
              </a:spcAft>
              <a:buNone/>
              <a:defRPr/>
            </a:pPr>
            <a:endParaRPr lang="pt-PT" sz="2700"/>
          </a:p>
        </p:txBody>
      </p:sp>
      <p:sp>
        <p:nvSpPr>
          <p:cNvPr id="619064231" name="Text 1"/>
          <p:cNvSpPr/>
          <p:nvPr/>
        </p:nvSpPr>
        <p:spPr bwMode="auto">
          <a:xfrm>
            <a:off x="761998" y="1590078"/>
            <a:ext cx="5246369" cy="365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9"/>
              </a:lnSpc>
              <a:spcBef>
                <a:spcPts val="1124"/>
              </a:spcBef>
              <a:spcAft>
                <a:spcPts val="749"/>
              </a:spcAft>
              <a:buNone/>
              <a:defRPr/>
            </a:pPr>
            <a:r>
              <a:rPr lang="pt-PT" sz="1800" b="1">
                <a:solidFill>
                  <a:srgbClr val="3B82F6"/>
                </a:solidFill>
                <a:latin typeface="Arial"/>
                <a:ea typeface="Arial"/>
                <a:cs typeface="Arial"/>
              </a:rPr>
              <a:t>Características</a:t>
            </a:r>
            <a:endParaRPr lang="pt-PT" sz="1800"/>
          </a:p>
        </p:txBody>
      </p:sp>
      <p:sp>
        <p:nvSpPr>
          <p:cNvPr id="293825343" name="Text 2"/>
          <p:cNvSpPr/>
          <p:nvPr/>
        </p:nvSpPr>
        <p:spPr bwMode="auto">
          <a:xfrm>
            <a:off x="761998" y="2082798"/>
            <a:ext cx="5143500" cy="1625599"/>
          </a:xfrm>
          <a:prstGeom prst="rect">
            <a:avLst/>
          </a:prstGeom>
          <a:noFill/>
          <a:ln/>
        </p:spPr>
        <p:txBody>
          <a:bodyPr wrap="square" lIns="119062" tIns="0" rIns="0" bIns="0" rtlCol="0" anchor="t"/>
          <a:lstStyle/>
          <a:p>
            <a:pPr marL="119062" indent="-119062" algn="l">
              <a:lnSpc>
                <a:spcPts val="2099"/>
              </a:lnSpc>
              <a:spcAft>
                <a:spcPts val="449"/>
              </a:spcAft>
              <a:buSzPct val="100000"/>
              <a:buChar char="•"/>
              <a:defRPr/>
            </a:pPr>
            <a:r>
              <a:rPr lang="pt-PT" sz="1350">
                <a:solidFill>
                  <a:srgbClr val="334155"/>
                </a:solidFill>
                <a:latin typeface="Arial"/>
                <a:ea typeface="Arial"/>
                <a:cs typeface="Arial"/>
              </a:rPr>
              <a:t>Recursos muito limitados</a:t>
            </a:r>
            <a:endParaRPr lang="pt-PT" sz="1350"/>
          </a:p>
          <a:p>
            <a:pPr marL="119062" indent="-119062" algn="l">
              <a:lnSpc>
                <a:spcPts val="2099"/>
              </a:lnSpc>
              <a:spcAft>
                <a:spcPts val="449"/>
              </a:spcAft>
              <a:buSzPct val="100000"/>
              <a:buChar char="•"/>
              <a:defRPr/>
            </a:pPr>
            <a:r>
              <a:rPr lang="pt-PT" sz="1350">
                <a:solidFill>
                  <a:srgbClr val="334155"/>
                </a:solidFill>
                <a:latin typeface="Arial"/>
                <a:ea typeface="Arial"/>
                <a:cs typeface="Arial"/>
              </a:rPr>
              <a:t>Processadores baixa frequência</a:t>
            </a:r>
            <a:endParaRPr lang="pt-PT" sz="1350"/>
          </a:p>
          <a:p>
            <a:pPr marL="119062" indent="-119062" algn="l">
              <a:lnSpc>
                <a:spcPts val="2099"/>
              </a:lnSpc>
              <a:spcAft>
                <a:spcPts val="449"/>
              </a:spcAft>
              <a:buSzPct val="100000"/>
              <a:buChar char="•"/>
              <a:defRPr/>
            </a:pPr>
            <a:r>
              <a:rPr lang="pt-PT" sz="1350">
                <a:solidFill>
                  <a:srgbClr val="334155"/>
                </a:solidFill>
                <a:latin typeface="Arial"/>
                <a:ea typeface="Arial"/>
                <a:cs typeface="Arial"/>
              </a:rPr>
              <a:t>Cada ciclo é crítico</a:t>
            </a:r>
            <a:endParaRPr lang="pt-PT" sz="1350"/>
          </a:p>
        </p:txBody>
      </p:sp>
      <p:sp>
        <p:nvSpPr>
          <p:cNvPr id="1329755773" name="Text 3"/>
          <p:cNvSpPr/>
          <p:nvPr/>
        </p:nvSpPr>
        <p:spPr bwMode="auto">
          <a:xfrm flipH="0" flipV="0">
            <a:off x="761998" y="3804940"/>
            <a:ext cx="4854555" cy="365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9"/>
              </a:lnSpc>
              <a:spcBef>
                <a:spcPts val="1124"/>
              </a:spcBef>
              <a:spcAft>
                <a:spcPts val="749"/>
              </a:spcAft>
              <a:buNone/>
              <a:defRPr/>
            </a:pPr>
            <a:r>
              <a:rPr lang="pt-PT" sz="1800" b="1">
                <a:solidFill>
                  <a:srgbClr val="3B82F6"/>
                </a:solidFill>
                <a:latin typeface="Arial"/>
                <a:ea typeface="Arial"/>
                <a:cs typeface="Arial"/>
              </a:rPr>
              <a:t>Vantagens Assembly</a:t>
            </a:r>
            <a:endParaRPr lang="pt-PT" sz="1800"/>
          </a:p>
        </p:txBody>
      </p:sp>
      <p:sp>
        <p:nvSpPr>
          <p:cNvPr id="1706139315" name="Text 4"/>
          <p:cNvSpPr/>
          <p:nvPr/>
        </p:nvSpPr>
        <p:spPr bwMode="auto">
          <a:xfrm flipH="0" flipV="0">
            <a:off x="761998" y="4297661"/>
            <a:ext cx="4854555" cy="1625598"/>
          </a:xfrm>
          <a:prstGeom prst="rect">
            <a:avLst/>
          </a:prstGeom>
          <a:noFill/>
          <a:ln/>
        </p:spPr>
        <p:txBody>
          <a:bodyPr wrap="square" lIns="119061" tIns="0" rIns="0" bIns="0" rtlCol="0" anchor="t"/>
          <a:lstStyle/>
          <a:p>
            <a:pPr marL="119062" indent="-119062" algn="l">
              <a:lnSpc>
                <a:spcPts val="2099"/>
              </a:lnSpc>
              <a:spcAft>
                <a:spcPts val="449"/>
              </a:spcAft>
              <a:buSzPct val="100000"/>
              <a:buChar char="•"/>
              <a:defRPr/>
            </a:pPr>
            <a:r>
              <a:rPr lang="pt-PT" sz="1350">
                <a:solidFill>
                  <a:srgbClr val="334155"/>
                </a:solidFill>
                <a:latin typeface="Arial"/>
                <a:ea typeface="Arial"/>
                <a:cs typeface="Arial"/>
              </a:rPr>
              <a:t>Eficiência máxima</a:t>
            </a:r>
            <a:endParaRPr lang="pt-PT" sz="1350"/>
          </a:p>
          <a:p>
            <a:pPr marL="119062" indent="-119062" algn="l">
              <a:lnSpc>
                <a:spcPts val="2099"/>
              </a:lnSpc>
              <a:spcAft>
                <a:spcPts val="449"/>
              </a:spcAft>
              <a:buSzPct val="100000"/>
              <a:buChar char="•"/>
              <a:defRPr/>
            </a:pPr>
            <a:r>
              <a:rPr lang="pt-PT" sz="1350">
                <a:solidFill>
                  <a:srgbClr val="334155"/>
                </a:solidFill>
                <a:latin typeface="Arial"/>
                <a:ea typeface="Arial"/>
                <a:cs typeface="Arial"/>
              </a:rPr>
              <a:t>Resposta previsível</a:t>
            </a:r>
            <a:endParaRPr lang="pt-PT" sz="1350"/>
          </a:p>
          <a:p>
            <a:pPr marL="119062" indent="-119062" algn="l">
              <a:lnSpc>
                <a:spcPts val="2099"/>
              </a:lnSpc>
              <a:spcAft>
                <a:spcPts val="449"/>
              </a:spcAft>
              <a:buSzPct val="100000"/>
              <a:buChar char="•"/>
              <a:defRPr/>
            </a:pPr>
            <a:r>
              <a:rPr lang="pt-PT" sz="1350">
                <a:solidFill>
                  <a:srgbClr val="334155"/>
                </a:solidFill>
                <a:latin typeface="Arial"/>
                <a:ea typeface="Arial"/>
                <a:cs typeface="Arial"/>
              </a:rPr>
              <a:t>Controlo preciso</a:t>
            </a:r>
            <a:endParaRPr lang="pt-PT" sz="1350"/>
          </a:p>
        </p:txBody>
      </p:sp>
      <p:sp>
        <p:nvSpPr>
          <p:cNvPr id="1872981850" name="Text 1"/>
          <p:cNvSpPr/>
          <p:nvPr/>
        </p:nvSpPr>
        <p:spPr bwMode="auto">
          <a:xfrm flipH="0" flipV="0">
            <a:off x="5616554" y="1590078"/>
            <a:ext cx="5710574" cy="365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8"/>
              </a:lnSpc>
              <a:spcBef>
                <a:spcPts val="1123"/>
              </a:spcBef>
              <a:spcAft>
                <a:spcPts val="748"/>
              </a:spcAft>
              <a:buNone/>
              <a:defRPr/>
            </a:pPr>
            <a:r>
              <a:rPr lang="pt-PT" sz="1800" b="1">
                <a:solidFill>
                  <a:srgbClr val="3B82F6"/>
                </a:solidFill>
                <a:latin typeface="Arial"/>
                <a:ea typeface="Arial"/>
                <a:cs typeface="Arial"/>
              </a:rPr>
              <a:t>Sectores de Aplicação</a:t>
            </a:r>
            <a:endParaRPr lang="pt-PT" sz="1800"/>
          </a:p>
        </p:txBody>
      </p:sp>
      <p:sp>
        <p:nvSpPr>
          <p:cNvPr id="513399215" name="Text 2"/>
          <p:cNvSpPr/>
          <p:nvPr/>
        </p:nvSpPr>
        <p:spPr bwMode="auto">
          <a:xfrm flipH="0" flipV="0">
            <a:off x="5707500" y="2082798"/>
            <a:ext cx="5710574" cy="2184399"/>
          </a:xfrm>
          <a:prstGeom prst="rect">
            <a:avLst/>
          </a:prstGeom>
          <a:noFill/>
          <a:ln/>
        </p:spPr>
        <p:txBody>
          <a:bodyPr wrap="square" lIns="119061" tIns="0" rIns="0" bIns="0" rtlCol="0" anchor="t"/>
          <a:lstStyle/>
          <a:p>
            <a:pPr marL="0" indent="0" algn="l">
              <a:lnSpc>
                <a:spcPts val="2098"/>
              </a:lnSpc>
              <a:spcAft>
                <a:spcPts val="448"/>
              </a:spcAft>
              <a:buNone/>
              <a:defRPr/>
            </a:pPr>
            <a:r>
              <a:rPr lang="pt-PT" sz="1350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Aviação</a:t>
            </a:r>
            <a:r>
              <a:rPr lang="pt-PT" sz="1350">
                <a:solidFill>
                  <a:srgbClr val="334155"/>
                </a:solidFill>
                <a:latin typeface="Arial"/>
                <a:ea typeface="Arial"/>
                <a:cs typeface="Arial"/>
              </a:rPr>
              <a:t>: Sistemas de controlo de voo (DO-178C)</a:t>
            </a:r>
            <a:endParaRPr lang="pt-PT" sz="1350"/>
          </a:p>
          <a:p>
            <a:pPr marL="0" indent="0" algn="l">
              <a:lnSpc>
                <a:spcPts val="2098"/>
              </a:lnSpc>
              <a:spcAft>
                <a:spcPts val="448"/>
              </a:spcAft>
              <a:buNone/>
              <a:defRPr/>
            </a:pPr>
            <a:r>
              <a:rPr lang="pt-PT" sz="1350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Energia Nuclear</a:t>
            </a:r>
            <a:r>
              <a:rPr lang="pt-PT" sz="1350">
                <a:solidFill>
                  <a:srgbClr val="334155"/>
                </a:solidFill>
                <a:latin typeface="Arial"/>
                <a:ea typeface="Arial"/>
                <a:cs typeface="Arial"/>
              </a:rPr>
              <a:t>: Controlo e segurança</a:t>
            </a:r>
            <a:endParaRPr lang="pt-PT" sz="1350"/>
          </a:p>
          <a:p>
            <a:pPr marL="0" indent="0" algn="l">
              <a:lnSpc>
                <a:spcPts val="2098"/>
              </a:lnSpc>
              <a:spcAft>
                <a:spcPts val="448"/>
              </a:spcAft>
              <a:buNone/>
              <a:defRPr/>
            </a:pPr>
            <a:r>
              <a:rPr lang="pt-PT" sz="1350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Dispositivos Médicos</a:t>
            </a:r>
            <a:r>
              <a:rPr lang="pt-PT" sz="1350">
                <a:solidFill>
                  <a:srgbClr val="334155"/>
                </a:solidFill>
                <a:latin typeface="Arial"/>
                <a:ea typeface="Arial"/>
                <a:cs typeface="Arial"/>
              </a:rPr>
              <a:t>: </a:t>
            </a:r>
            <a:r>
              <a:rPr lang="pt-PT" sz="1350" i="1">
                <a:solidFill>
                  <a:srgbClr val="334155"/>
                </a:solidFill>
                <a:latin typeface="Arial"/>
                <a:ea typeface="Arial"/>
                <a:cs typeface="Arial"/>
              </a:rPr>
              <a:t>Pacemakers</a:t>
            </a:r>
            <a:r>
              <a:rPr lang="pt-PT" sz="1350" i="1">
                <a:solidFill>
                  <a:srgbClr val="334155"/>
                </a:solidFill>
                <a:latin typeface="Arial"/>
                <a:ea typeface="Arial"/>
                <a:cs typeface="Arial"/>
              </a:rPr>
              <a:t> </a:t>
            </a:r>
            <a:r>
              <a:rPr lang="pt-PT" sz="1350">
                <a:solidFill>
                  <a:srgbClr val="334155"/>
                </a:solidFill>
                <a:latin typeface="Arial"/>
                <a:ea typeface="Arial"/>
                <a:cs typeface="Arial"/>
              </a:rPr>
              <a:t>(IEC 62304)</a:t>
            </a:r>
            <a:endParaRPr lang="pt-PT" sz="1350"/>
          </a:p>
          <a:p>
            <a:pPr marL="0" indent="0" algn="l">
              <a:lnSpc>
                <a:spcPts val="2098"/>
              </a:lnSpc>
              <a:spcAft>
                <a:spcPts val="448"/>
              </a:spcAft>
              <a:buNone/>
              <a:defRPr/>
            </a:pPr>
            <a:r>
              <a:rPr lang="pt-PT" sz="1350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Automóvel</a:t>
            </a:r>
            <a:r>
              <a:rPr lang="pt-PT" sz="1350">
                <a:solidFill>
                  <a:srgbClr val="334155"/>
                </a:solidFill>
                <a:latin typeface="Arial"/>
                <a:ea typeface="Arial"/>
                <a:cs typeface="Arial"/>
              </a:rPr>
              <a:t>: Sistemas de travagem</a:t>
            </a:r>
            <a:endParaRPr lang="pt-PT" sz="1350"/>
          </a:p>
        </p:txBody>
      </p:sp>
      <p:sp>
        <p:nvSpPr>
          <p:cNvPr id="1712576616" name="Text 3"/>
          <p:cNvSpPr/>
          <p:nvPr/>
        </p:nvSpPr>
        <p:spPr bwMode="auto">
          <a:xfrm flipH="0" flipV="0">
            <a:off x="5707500" y="3901478"/>
            <a:ext cx="4854555" cy="365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8"/>
              </a:lnSpc>
              <a:spcBef>
                <a:spcPts val="1123"/>
              </a:spcBef>
              <a:spcAft>
                <a:spcPts val="748"/>
              </a:spcAft>
              <a:buNone/>
              <a:defRPr/>
            </a:pPr>
            <a:r>
              <a:rPr lang="pt-BR" sz="2200" b="1">
                <a:solidFill>
                  <a:srgbClr val="3B82F6"/>
                </a:solidFill>
                <a:latin typeface="Arial"/>
                <a:ea typeface="Arial"/>
                <a:cs typeface="Arial"/>
              </a:rPr>
              <a:t>Assembler:</a:t>
            </a:r>
            <a:endParaRPr lang="pt-PT" sz="2200"/>
          </a:p>
        </p:txBody>
      </p:sp>
      <p:sp>
        <p:nvSpPr>
          <p:cNvPr id="1715722837" name="Text 4"/>
          <p:cNvSpPr/>
          <p:nvPr/>
        </p:nvSpPr>
        <p:spPr bwMode="auto">
          <a:xfrm flipH="0" flipV="0">
            <a:off x="5768952" y="4373344"/>
            <a:ext cx="5661045" cy="1625598"/>
          </a:xfrm>
          <a:prstGeom prst="rect">
            <a:avLst/>
          </a:prstGeom>
          <a:noFill/>
          <a:ln/>
        </p:spPr>
        <p:txBody>
          <a:bodyPr wrap="square" lIns="119061" tIns="0" rIns="0" bIns="0" rtlCol="0" anchor="t"/>
          <a:lstStyle/>
          <a:p>
            <a:pPr marL="119061" indent="-119061" algn="l">
              <a:lnSpc>
                <a:spcPct val="100000"/>
              </a:lnSpc>
              <a:spcAft>
                <a:spcPts val="448"/>
              </a:spcAft>
              <a:buSzPct val="100000"/>
              <a:buChar char="•"/>
              <a:defRPr/>
            </a:pPr>
            <a:r>
              <a:rPr lang="pt-BR" sz="2400"/>
              <a:t>ARM</a:t>
            </a:r>
            <a:r>
              <a:rPr lang="pt-BR" sz="2400"/>
              <a:t> AS</a:t>
            </a:r>
            <a:endParaRPr lang="pt-PT"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8580210" name="Text 0"/>
          <p:cNvSpPr/>
          <p:nvPr/>
        </p:nvSpPr>
        <p:spPr bwMode="auto">
          <a:xfrm>
            <a:off x="761999" y="507999"/>
            <a:ext cx="7189470" cy="507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99"/>
              </a:lnSpc>
              <a:spcAft>
                <a:spcPts val="1874"/>
              </a:spcAft>
              <a:buNone/>
              <a:defRPr/>
            </a:pPr>
            <a:r>
              <a:rPr lang="pt-PT" sz="2700" b="1">
                <a:solidFill>
                  <a:srgbClr val="1E3A8A"/>
                </a:solidFill>
                <a:latin typeface="Arial"/>
                <a:ea typeface="Arial"/>
                <a:cs typeface="Arial"/>
              </a:rPr>
              <a:t>Drivers, Firmware e Bootloaders</a:t>
            </a:r>
            <a:endParaRPr lang="pt-PT" sz="2700"/>
          </a:p>
        </p:txBody>
      </p:sp>
      <p:sp>
        <p:nvSpPr>
          <p:cNvPr id="1629777631" name="Text 1"/>
          <p:cNvSpPr/>
          <p:nvPr/>
        </p:nvSpPr>
        <p:spPr bwMode="auto">
          <a:xfrm>
            <a:off x="761999" y="1333499"/>
            <a:ext cx="10881360" cy="365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9"/>
              </a:lnSpc>
              <a:spcBef>
                <a:spcPts val="1124"/>
              </a:spcBef>
              <a:spcAft>
                <a:spcPts val="749"/>
              </a:spcAft>
              <a:buNone/>
              <a:defRPr/>
            </a:pPr>
            <a:r>
              <a:rPr lang="pt-PT" sz="1800" b="1">
                <a:solidFill>
                  <a:srgbClr val="3B82F6"/>
                </a:solidFill>
                <a:latin typeface="Arial"/>
                <a:ea typeface="Arial"/>
                <a:cs typeface="Arial"/>
              </a:rPr>
              <a:t>Componentes de Sistema</a:t>
            </a:r>
            <a:endParaRPr lang="pt-PT" sz="1800"/>
          </a:p>
        </p:txBody>
      </p:sp>
      <p:sp>
        <p:nvSpPr>
          <p:cNvPr id="1131367286" name="Text 2"/>
          <p:cNvSpPr/>
          <p:nvPr/>
        </p:nvSpPr>
        <p:spPr bwMode="auto">
          <a:xfrm>
            <a:off x="761999" y="1826219"/>
            <a:ext cx="10667999" cy="1625599"/>
          </a:xfrm>
          <a:prstGeom prst="rect">
            <a:avLst/>
          </a:prstGeom>
          <a:noFill/>
          <a:ln/>
        </p:spPr>
        <p:txBody>
          <a:bodyPr wrap="square" lIns="119062" tIns="0" rIns="0" bIns="0" rtlCol="0" anchor="t"/>
          <a:lstStyle/>
          <a:p>
            <a:pPr marL="0" indent="0" algn="l">
              <a:lnSpc>
                <a:spcPts val="2099"/>
              </a:lnSpc>
              <a:spcAft>
                <a:spcPts val="449"/>
              </a:spcAft>
              <a:buNone/>
              <a:defRPr/>
            </a:pPr>
            <a:r>
              <a:rPr lang="pt-PT" sz="1350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Drivers</a:t>
            </a:r>
            <a:r>
              <a:rPr lang="pt-PT" sz="1350">
                <a:solidFill>
                  <a:srgbClr val="334155"/>
                </a:solidFill>
                <a:latin typeface="Arial"/>
                <a:ea typeface="Arial"/>
                <a:cs typeface="Arial"/>
              </a:rPr>
              <a:t>: Interface hardware ↔ SO</a:t>
            </a:r>
            <a:endParaRPr lang="pt-PT" sz="1350"/>
          </a:p>
          <a:p>
            <a:pPr marL="0" indent="0" algn="l">
              <a:lnSpc>
                <a:spcPts val="2099"/>
              </a:lnSpc>
              <a:spcAft>
                <a:spcPts val="449"/>
              </a:spcAft>
              <a:buNone/>
              <a:defRPr/>
            </a:pPr>
            <a:r>
              <a:rPr lang="pt-PT" sz="1350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Firmware</a:t>
            </a:r>
            <a:r>
              <a:rPr lang="pt-PT" sz="1350">
                <a:solidFill>
                  <a:srgbClr val="334155"/>
                </a:solidFill>
                <a:latin typeface="Arial"/>
                <a:ea typeface="Arial"/>
                <a:cs typeface="Arial"/>
              </a:rPr>
              <a:t>: Software </a:t>
            </a:r>
            <a:r>
              <a:rPr lang="pt-BR" sz="1350">
                <a:solidFill>
                  <a:srgbClr val="334155"/>
                </a:solidFill>
                <a:latin typeface="Arial"/>
                <a:ea typeface="Arial"/>
                <a:cs typeface="Arial"/>
              </a:rPr>
              <a:t>“</a:t>
            </a:r>
            <a:r>
              <a:rPr lang="pt-PT" sz="1350">
                <a:solidFill>
                  <a:srgbClr val="334155"/>
                </a:solidFill>
                <a:latin typeface="Arial"/>
                <a:ea typeface="Arial"/>
                <a:cs typeface="Arial"/>
              </a:rPr>
              <a:t>embe</a:t>
            </a:r>
            <a:r>
              <a:rPr lang="pt-BR" sz="1350">
                <a:solidFill>
                  <a:srgbClr val="334155"/>
                </a:solidFill>
                <a:latin typeface="Arial"/>
                <a:ea typeface="Arial"/>
                <a:cs typeface="Arial"/>
              </a:rPr>
              <a:t>dded”</a:t>
            </a:r>
            <a:endParaRPr lang="pt-PT" sz="1350"/>
          </a:p>
          <a:p>
            <a:pPr marL="0" indent="0" algn="l">
              <a:lnSpc>
                <a:spcPts val="2099"/>
              </a:lnSpc>
              <a:spcAft>
                <a:spcPts val="449"/>
              </a:spcAft>
              <a:buNone/>
              <a:defRPr/>
            </a:pPr>
            <a:r>
              <a:rPr lang="pt-PT" sz="1350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Bootloaders</a:t>
            </a:r>
            <a:r>
              <a:rPr lang="pt-PT" sz="1350">
                <a:solidFill>
                  <a:srgbClr val="334155"/>
                </a:solidFill>
                <a:latin typeface="Arial"/>
                <a:ea typeface="Arial"/>
                <a:cs typeface="Arial"/>
              </a:rPr>
              <a:t>: Inicialização antes do SO</a:t>
            </a:r>
            <a:endParaRPr lang="pt-PT" sz="1350"/>
          </a:p>
        </p:txBody>
      </p:sp>
      <p:sp>
        <p:nvSpPr>
          <p:cNvPr id="1279946096" name="Text 5"/>
          <p:cNvSpPr/>
          <p:nvPr/>
        </p:nvSpPr>
        <p:spPr bwMode="auto">
          <a:xfrm flipH="0" flipV="0">
            <a:off x="5770305" y="1333498"/>
            <a:ext cx="5990514" cy="365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9"/>
              </a:lnSpc>
              <a:spcBef>
                <a:spcPts val="1124"/>
              </a:spcBef>
              <a:spcAft>
                <a:spcPts val="749"/>
              </a:spcAft>
              <a:buNone/>
              <a:defRPr/>
            </a:pPr>
            <a:r>
              <a:rPr lang="pt-PT" sz="1800" b="1">
                <a:solidFill>
                  <a:srgbClr val="3B82F6"/>
                </a:solidFill>
                <a:latin typeface="Arial"/>
                <a:ea typeface="Arial"/>
                <a:cs typeface="Arial"/>
              </a:rPr>
              <a:t>Requisitos</a:t>
            </a:r>
            <a:endParaRPr lang="pt-PT" sz="1800"/>
          </a:p>
        </p:txBody>
      </p:sp>
      <p:sp>
        <p:nvSpPr>
          <p:cNvPr id="888576295" name="Text 6"/>
          <p:cNvSpPr/>
          <p:nvPr/>
        </p:nvSpPr>
        <p:spPr bwMode="auto">
          <a:xfrm flipH="0" flipV="0">
            <a:off x="5770305" y="1826218"/>
            <a:ext cx="5873053" cy="1066798"/>
          </a:xfrm>
          <a:prstGeom prst="rect">
            <a:avLst/>
          </a:prstGeom>
          <a:noFill/>
          <a:ln/>
        </p:spPr>
        <p:txBody>
          <a:bodyPr wrap="square" lIns="119061" tIns="0" rIns="0" bIns="0" rtlCol="0" anchor="t"/>
          <a:lstStyle/>
          <a:p>
            <a:pPr marL="119062" indent="-119062" algn="l">
              <a:lnSpc>
                <a:spcPts val="2099"/>
              </a:lnSpc>
              <a:spcAft>
                <a:spcPts val="449"/>
              </a:spcAft>
              <a:buSzPct val="100000"/>
              <a:buChar char="•"/>
              <a:defRPr/>
            </a:pPr>
            <a:r>
              <a:rPr lang="pt-PT" sz="1350">
                <a:solidFill>
                  <a:srgbClr val="334155"/>
                </a:solidFill>
                <a:latin typeface="Arial"/>
                <a:ea typeface="Arial"/>
                <a:cs typeface="Arial"/>
              </a:rPr>
              <a:t>Acesso directo a instruções do CPU</a:t>
            </a:r>
            <a:endParaRPr lang="pt-PT" sz="1350"/>
          </a:p>
          <a:p>
            <a:pPr marL="119062" indent="-119062" algn="l">
              <a:lnSpc>
                <a:spcPts val="2099"/>
              </a:lnSpc>
              <a:spcAft>
                <a:spcPts val="449"/>
              </a:spcAft>
              <a:buSzPct val="100000"/>
              <a:buChar char="•"/>
              <a:defRPr/>
            </a:pPr>
            <a:r>
              <a:rPr lang="pt-PT" sz="1350">
                <a:solidFill>
                  <a:srgbClr val="334155"/>
                </a:solidFill>
                <a:latin typeface="Arial"/>
                <a:ea typeface="Arial"/>
                <a:cs typeface="Arial"/>
              </a:rPr>
              <a:t>Gestão de interrupções ao nível do hardware</a:t>
            </a:r>
            <a:endParaRPr lang="pt-PT" sz="1350"/>
          </a:p>
        </p:txBody>
      </p:sp>
      <p:sp>
        <p:nvSpPr>
          <p:cNvPr id="493103759" name="Text 3"/>
          <p:cNvSpPr/>
          <p:nvPr/>
        </p:nvSpPr>
        <p:spPr bwMode="auto">
          <a:xfrm flipH="0" flipV="0">
            <a:off x="761998" y="3901478"/>
            <a:ext cx="4854555" cy="365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8"/>
              </a:lnSpc>
              <a:spcBef>
                <a:spcPts val="1123"/>
              </a:spcBef>
              <a:spcAft>
                <a:spcPts val="748"/>
              </a:spcAft>
              <a:buNone/>
              <a:defRPr/>
            </a:pPr>
            <a:r>
              <a:rPr lang="pt-BR" sz="2200" b="1">
                <a:solidFill>
                  <a:srgbClr val="3B82F6"/>
                </a:solidFill>
                <a:latin typeface="Arial"/>
                <a:ea typeface="Arial"/>
                <a:cs typeface="Arial"/>
              </a:rPr>
              <a:t>Assembler:</a:t>
            </a:r>
            <a:endParaRPr lang="pt-PT" sz="2200"/>
          </a:p>
        </p:txBody>
      </p:sp>
      <p:sp>
        <p:nvSpPr>
          <p:cNvPr id="1660020269" name="Text 4"/>
          <p:cNvSpPr/>
          <p:nvPr/>
        </p:nvSpPr>
        <p:spPr bwMode="auto">
          <a:xfrm flipH="0" flipV="0">
            <a:off x="823451" y="4373343"/>
            <a:ext cx="5661045" cy="1625598"/>
          </a:xfrm>
          <a:prstGeom prst="rect">
            <a:avLst/>
          </a:prstGeom>
          <a:noFill/>
          <a:ln/>
        </p:spPr>
        <p:txBody>
          <a:bodyPr wrap="square" lIns="119061" tIns="0" rIns="0" bIns="0" rtlCol="0" anchor="t"/>
          <a:lstStyle/>
          <a:p>
            <a:pPr marL="119061" indent="-119061" algn="l">
              <a:lnSpc>
                <a:spcPct val="100000"/>
              </a:lnSpc>
              <a:spcAft>
                <a:spcPts val="448"/>
              </a:spcAft>
              <a:buSzPct val="100000"/>
              <a:buChar char="•"/>
              <a:defRPr/>
            </a:pPr>
            <a:r>
              <a:rPr lang="pt-BR" sz="2400"/>
              <a:t>GAS</a:t>
            </a:r>
            <a:r>
              <a:rPr lang="pt-BR" sz="2400"/>
              <a:t>(Drivers Linux/Unix)</a:t>
            </a:r>
            <a:endParaRPr lang="pt-BR" sz="2400"/>
          </a:p>
          <a:p>
            <a:pPr marL="119061" indent="-119061" algn="l">
              <a:lnSpc>
                <a:spcPct val="100000"/>
              </a:lnSpc>
              <a:spcAft>
                <a:spcPts val="448"/>
              </a:spcAft>
              <a:buSzPct val="100000"/>
              <a:buChar char="•"/>
              <a:defRPr/>
            </a:pPr>
            <a:r>
              <a:rPr lang="pt-BR" sz="2400"/>
              <a:t>MASM(Drivers Windows)</a:t>
            </a:r>
            <a:endParaRPr lang="pt-PT" sz="2400"/>
          </a:p>
          <a:p>
            <a:pPr marL="119061" indent="-119061" algn="l">
              <a:lnSpc>
                <a:spcPct val="100000"/>
              </a:lnSpc>
              <a:spcAft>
                <a:spcPts val="448"/>
              </a:spcAft>
              <a:buSzPct val="100000"/>
              <a:buChar char="•"/>
              <a:defRPr/>
            </a:pPr>
            <a:r>
              <a:rPr lang="pt-BR" sz="2400"/>
              <a:t>NASM(kernels, bootloaders)</a:t>
            </a:r>
            <a:endParaRPr lang="pt-PT"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0816717" name="Text 0"/>
          <p:cNvSpPr/>
          <p:nvPr/>
        </p:nvSpPr>
        <p:spPr bwMode="auto">
          <a:xfrm>
            <a:off x="761999" y="507999"/>
            <a:ext cx="5557266" cy="507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99"/>
              </a:lnSpc>
              <a:spcAft>
                <a:spcPts val="1874"/>
              </a:spcAft>
              <a:buNone/>
              <a:defRPr/>
            </a:pPr>
            <a:r>
              <a:rPr lang="pt-PT" sz="2700" b="1">
                <a:solidFill>
                  <a:srgbClr val="1E3A8A"/>
                </a:solidFill>
                <a:latin typeface="Arial"/>
                <a:ea typeface="Arial"/>
                <a:cs typeface="Arial"/>
              </a:rPr>
              <a:t>Criptografia e Segurança</a:t>
            </a:r>
            <a:endParaRPr lang="pt-PT" sz="2700"/>
          </a:p>
        </p:txBody>
      </p:sp>
      <p:sp>
        <p:nvSpPr>
          <p:cNvPr id="1098693974" name="Text 1"/>
          <p:cNvSpPr/>
          <p:nvPr/>
        </p:nvSpPr>
        <p:spPr bwMode="auto">
          <a:xfrm>
            <a:off x="761999" y="1523999"/>
            <a:ext cx="5246369" cy="365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9"/>
              </a:lnSpc>
              <a:spcBef>
                <a:spcPts val="1124"/>
              </a:spcBef>
              <a:spcAft>
                <a:spcPts val="749"/>
              </a:spcAft>
              <a:buNone/>
              <a:defRPr/>
            </a:pPr>
            <a:r>
              <a:rPr lang="pt-PT" sz="1800" b="1">
                <a:solidFill>
                  <a:srgbClr val="3B82F6"/>
                </a:solidFill>
                <a:latin typeface="Arial"/>
                <a:ea typeface="Arial"/>
                <a:cs typeface="Arial"/>
              </a:rPr>
              <a:t>Ataques Auxiliares</a:t>
            </a:r>
            <a:endParaRPr lang="pt-PT" sz="1800"/>
          </a:p>
        </p:txBody>
      </p:sp>
      <p:sp>
        <p:nvSpPr>
          <p:cNvPr id="2029296384" name="Text 2"/>
          <p:cNvSpPr/>
          <p:nvPr/>
        </p:nvSpPr>
        <p:spPr bwMode="auto">
          <a:xfrm>
            <a:off x="761999" y="2016720"/>
            <a:ext cx="5143500" cy="1625599"/>
          </a:xfrm>
          <a:prstGeom prst="rect">
            <a:avLst/>
          </a:prstGeom>
          <a:noFill/>
          <a:ln/>
        </p:spPr>
        <p:txBody>
          <a:bodyPr wrap="square" lIns="119062" tIns="0" rIns="0" bIns="0" rtlCol="0" anchor="t"/>
          <a:lstStyle/>
          <a:p>
            <a:pPr marL="119062" indent="-119062" algn="l">
              <a:lnSpc>
                <a:spcPts val="2099"/>
              </a:lnSpc>
              <a:spcAft>
                <a:spcPts val="449"/>
              </a:spcAft>
              <a:buSzPct val="100000"/>
              <a:buChar char="•"/>
              <a:defRPr/>
            </a:pPr>
            <a:r>
              <a:rPr lang="pt-PT" sz="1350">
                <a:solidFill>
                  <a:srgbClr val="334155"/>
                </a:solidFill>
                <a:latin typeface="Arial"/>
                <a:ea typeface="Arial"/>
                <a:cs typeface="Arial"/>
              </a:rPr>
              <a:t>Timing attacks</a:t>
            </a:r>
            <a:endParaRPr lang="pt-PT" sz="1350"/>
          </a:p>
          <a:p>
            <a:pPr marL="119062" indent="-119062" algn="l">
              <a:lnSpc>
                <a:spcPts val="2099"/>
              </a:lnSpc>
              <a:spcAft>
                <a:spcPts val="449"/>
              </a:spcAft>
              <a:buSzPct val="100000"/>
              <a:buChar char="•"/>
              <a:defRPr/>
            </a:pPr>
            <a:r>
              <a:rPr lang="pt-PT" sz="1350">
                <a:solidFill>
                  <a:srgbClr val="334155"/>
                </a:solidFill>
                <a:latin typeface="Arial"/>
                <a:ea typeface="Arial"/>
                <a:cs typeface="Arial"/>
              </a:rPr>
              <a:t>Cache-timing attacks</a:t>
            </a:r>
            <a:endParaRPr lang="pt-PT" sz="1350"/>
          </a:p>
          <a:p>
            <a:pPr marL="119062" indent="-119062" algn="l">
              <a:lnSpc>
                <a:spcPts val="2099"/>
              </a:lnSpc>
              <a:spcAft>
                <a:spcPts val="449"/>
              </a:spcAft>
              <a:buSzPct val="100000"/>
              <a:buChar char="•"/>
              <a:defRPr/>
            </a:pPr>
            <a:r>
              <a:rPr lang="pt-PT" sz="1350">
                <a:solidFill>
                  <a:srgbClr val="334155"/>
                </a:solidFill>
                <a:latin typeface="Arial"/>
                <a:ea typeface="Arial"/>
                <a:cs typeface="Arial"/>
              </a:rPr>
              <a:t>Exploram tempo de execução</a:t>
            </a:r>
            <a:endParaRPr lang="pt-PT" sz="1350"/>
          </a:p>
        </p:txBody>
      </p:sp>
      <p:sp>
        <p:nvSpPr>
          <p:cNvPr id="1281070675" name="Text 3"/>
          <p:cNvSpPr/>
          <p:nvPr/>
        </p:nvSpPr>
        <p:spPr bwMode="auto">
          <a:xfrm>
            <a:off x="761999" y="3832819"/>
            <a:ext cx="5246369" cy="365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9"/>
              </a:lnSpc>
              <a:spcBef>
                <a:spcPts val="1124"/>
              </a:spcBef>
              <a:spcAft>
                <a:spcPts val="749"/>
              </a:spcAft>
              <a:buNone/>
              <a:defRPr/>
            </a:pPr>
            <a:r>
              <a:rPr lang="pt-PT" sz="1800" b="1">
                <a:solidFill>
                  <a:srgbClr val="3B82F6"/>
                </a:solidFill>
                <a:latin typeface="Arial"/>
                <a:ea typeface="Arial"/>
                <a:cs typeface="Arial"/>
              </a:rPr>
              <a:t>Solução</a:t>
            </a:r>
            <a:endParaRPr lang="pt-PT" sz="1800"/>
          </a:p>
        </p:txBody>
      </p:sp>
      <p:sp>
        <p:nvSpPr>
          <p:cNvPr id="1433240543" name="Text 4"/>
          <p:cNvSpPr/>
          <p:nvPr/>
        </p:nvSpPr>
        <p:spPr bwMode="auto">
          <a:xfrm>
            <a:off x="761998" y="4267197"/>
            <a:ext cx="5143500" cy="507999"/>
          </a:xfrm>
          <a:prstGeom prst="rect">
            <a:avLst/>
          </a:prstGeom>
          <a:noFill/>
          <a:ln/>
        </p:spPr>
        <p:txBody>
          <a:bodyPr wrap="square" lIns="119062" tIns="0" rIns="0" bIns="0" rtlCol="0" anchor="t"/>
          <a:lstStyle/>
          <a:p>
            <a:pPr marL="119062" indent="-119062" algn="l">
              <a:lnSpc>
                <a:spcPts val="2099"/>
              </a:lnSpc>
              <a:spcAft>
                <a:spcPts val="449"/>
              </a:spcAft>
              <a:buSzPct val="100000"/>
              <a:buChar char="•"/>
              <a:defRPr/>
            </a:pPr>
            <a:r>
              <a:rPr lang="pt-PT" sz="1350">
                <a:solidFill>
                  <a:srgbClr val="334155"/>
                </a:solidFill>
                <a:latin typeface="Arial"/>
                <a:ea typeface="Arial"/>
                <a:cs typeface="Arial"/>
              </a:rPr>
              <a:t>Código constant-time</a:t>
            </a:r>
            <a:endParaRPr lang="pt-PT" sz="1350"/>
          </a:p>
        </p:txBody>
      </p:sp>
      <p:sp>
        <p:nvSpPr>
          <p:cNvPr id="578437485" name="Text 5"/>
          <p:cNvSpPr/>
          <p:nvPr/>
        </p:nvSpPr>
        <p:spPr bwMode="auto">
          <a:xfrm>
            <a:off x="6286500" y="1523999"/>
            <a:ext cx="5246369" cy="365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9"/>
              </a:lnSpc>
              <a:spcBef>
                <a:spcPts val="1124"/>
              </a:spcBef>
              <a:spcAft>
                <a:spcPts val="749"/>
              </a:spcAft>
              <a:buNone/>
              <a:defRPr/>
            </a:pPr>
            <a:r>
              <a:rPr lang="pt-PT" sz="1800" b="1">
                <a:solidFill>
                  <a:srgbClr val="3B82F6"/>
                </a:solidFill>
                <a:latin typeface="Arial"/>
                <a:ea typeface="Arial"/>
                <a:cs typeface="Arial"/>
              </a:rPr>
              <a:t>Bibliotecas</a:t>
            </a:r>
            <a:endParaRPr lang="pt-PT" sz="1800"/>
          </a:p>
        </p:txBody>
      </p:sp>
      <p:sp>
        <p:nvSpPr>
          <p:cNvPr id="386983884" name="Text 6"/>
          <p:cNvSpPr/>
          <p:nvPr/>
        </p:nvSpPr>
        <p:spPr bwMode="auto">
          <a:xfrm>
            <a:off x="6286500" y="2016720"/>
            <a:ext cx="5143500" cy="1625599"/>
          </a:xfrm>
          <a:prstGeom prst="rect">
            <a:avLst/>
          </a:prstGeom>
          <a:noFill/>
          <a:ln/>
        </p:spPr>
        <p:txBody>
          <a:bodyPr wrap="square" lIns="119062" tIns="0" rIns="0" bIns="0" rtlCol="0" anchor="t"/>
          <a:lstStyle/>
          <a:p>
            <a:pPr marL="119062" indent="-119062" algn="l">
              <a:lnSpc>
                <a:spcPts val="2099"/>
              </a:lnSpc>
              <a:spcAft>
                <a:spcPts val="449"/>
              </a:spcAft>
              <a:buSzPct val="100000"/>
              <a:buChar char="•"/>
              <a:defRPr/>
            </a:pPr>
            <a:r>
              <a:rPr lang="pt-PT" sz="1350">
                <a:solidFill>
                  <a:srgbClr val="334155"/>
                </a:solidFill>
                <a:latin typeface="Arial"/>
                <a:ea typeface="Arial"/>
                <a:cs typeface="Arial"/>
              </a:rPr>
              <a:t>OpenSSL</a:t>
            </a:r>
            <a:endParaRPr lang="pt-PT" sz="1350"/>
          </a:p>
          <a:p>
            <a:pPr marL="119062" indent="-119062" algn="l">
              <a:lnSpc>
                <a:spcPts val="2099"/>
              </a:lnSpc>
              <a:spcAft>
                <a:spcPts val="449"/>
              </a:spcAft>
              <a:buSzPct val="100000"/>
              <a:buChar char="•"/>
              <a:defRPr/>
            </a:pPr>
            <a:r>
              <a:rPr lang="pt-PT" sz="1350">
                <a:solidFill>
                  <a:srgbClr val="334155"/>
                </a:solidFill>
                <a:latin typeface="Arial"/>
                <a:ea typeface="Arial"/>
                <a:cs typeface="Arial"/>
              </a:rPr>
              <a:t>libsodium</a:t>
            </a:r>
            <a:endParaRPr lang="pt-PT" sz="1350"/>
          </a:p>
          <a:p>
            <a:pPr marL="119062" indent="-119062" algn="l">
              <a:lnSpc>
                <a:spcPts val="2099"/>
              </a:lnSpc>
              <a:spcAft>
                <a:spcPts val="449"/>
              </a:spcAft>
              <a:buSzPct val="100000"/>
              <a:buChar char="•"/>
              <a:defRPr/>
            </a:pPr>
            <a:r>
              <a:rPr lang="pt-PT" sz="1350">
                <a:solidFill>
                  <a:srgbClr val="334155"/>
                </a:solidFill>
                <a:latin typeface="Arial"/>
                <a:ea typeface="Arial"/>
                <a:cs typeface="Arial"/>
              </a:rPr>
              <a:t>Rotinas críticas em Assembly</a:t>
            </a:r>
            <a:endParaRPr lang="pt-PT" sz="1350"/>
          </a:p>
        </p:txBody>
      </p:sp>
      <p:sp>
        <p:nvSpPr>
          <p:cNvPr id="39408165" name="Text 3"/>
          <p:cNvSpPr/>
          <p:nvPr/>
        </p:nvSpPr>
        <p:spPr bwMode="auto">
          <a:xfrm flipH="0" flipV="0">
            <a:off x="5707500" y="3901478"/>
            <a:ext cx="4854555" cy="365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8"/>
              </a:lnSpc>
              <a:spcBef>
                <a:spcPts val="1123"/>
              </a:spcBef>
              <a:spcAft>
                <a:spcPts val="748"/>
              </a:spcAft>
              <a:buNone/>
              <a:defRPr/>
            </a:pPr>
            <a:r>
              <a:rPr lang="pt-BR" sz="2200" b="1">
                <a:solidFill>
                  <a:srgbClr val="3B82F6"/>
                </a:solidFill>
                <a:latin typeface="Arial"/>
                <a:ea typeface="Arial"/>
                <a:cs typeface="Arial"/>
              </a:rPr>
              <a:t>Assembler:</a:t>
            </a:r>
            <a:endParaRPr lang="pt-PT" sz="2200"/>
          </a:p>
        </p:txBody>
      </p:sp>
      <p:sp>
        <p:nvSpPr>
          <p:cNvPr id="1098886351" name="Text 4"/>
          <p:cNvSpPr/>
          <p:nvPr/>
        </p:nvSpPr>
        <p:spPr bwMode="auto">
          <a:xfrm flipH="0" flipV="0">
            <a:off x="5768952" y="4373343"/>
            <a:ext cx="5661045" cy="1625598"/>
          </a:xfrm>
          <a:prstGeom prst="rect">
            <a:avLst/>
          </a:prstGeom>
          <a:noFill/>
          <a:ln/>
        </p:spPr>
        <p:txBody>
          <a:bodyPr wrap="square" lIns="119061" tIns="0" rIns="0" bIns="0" rtlCol="0" anchor="t"/>
          <a:lstStyle/>
          <a:p>
            <a:pPr marL="119061" indent="-119061" algn="l">
              <a:lnSpc>
                <a:spcPct val="100000"/>
              </a:lnSpc>
              <a:spcAft>
                <a:spcPts val="448"/>
              </a:spcAft>
              <a:buSzPct val="100000"/>
              <a:buChar char="•"/>
              <a:defRPr/>
            </a:pPr>
            <a:r>
              <a:rPr lang="pt-BR" sz="2400"/>
              <a:t>NASM</a:t>
            </a:r>
            <a:endParaRPr lang="pt-BR" sz="2400"/>
          </a:p>
          <a:p>
            <a:pPr marL="119061" indent="-119061" algn="l">
              <a:lnSpc>
                <a:spcPct val="100000"/>
              </a:lnSpc>
              <a:spcAft>
                <a:spcPts val="448"/>
              </a:spcAft>
              <a:buSzPct val="100000"/>
              <a:buChar char="•"/>
              <a:defRPr/>
            </a:pPr>
            <a:r>
              <a:rPr lang="pt-BR" sz="2400"/>
              <a:t>GAS</a:t>
            </a:r>
            <a:endParaRPr lang="pt-BR" sz="2400"/>
          </a:p>
          <a:p>
            <a:pPr marL="119061" indent="-119061" algn="l">
              <a:lnSpc>
                <a:spcPct val="100000"/>
              </a:lnSpc>
              <a:spcAft>
                <a:spcPts val="448"/>
              </a:spcAft>
              <a:buSzPct val="100000"/>
              <a:buChar char="•"/>
              <a:defRPr/>
            </a:pPr>
            <a:r>
              <a:rPr lang="pt-BR" sz="2400"/>
              <a:t>MASM(criptografia)</a:t>
            </a:r>
            <a:endParaRPr lang="pt-PT"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27838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PT"/>
              <a:t>Assemblers Comparison</a:t>
            </a:r>
            <a:endParaRPr lang="pt-PT"/>
          </a:p>
        </p:txBody>
      </p:sp>
      <p:graphicFrame>
        <p:nvGraphicFramePr>
          <p:cNvPr id="471843833" name=""/>
          <p:cNvGraphicFramePr>
            <a:graphicFrameLocks xmlns:a="http://schemas.openxmlformats.org/drawingml/2006/main"/>
          </p:cNvGraphicFramePr>
          <p:nvPr>
            <p:ph idx="1"/>
          </p:nvPr>
        </p:nvGraphicFramePr>
        <p:xfrm rot="0">
          <a:off x="838197" y="1562552"/>
          <a:ext cx="10439736" cy="474833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085408"/>
                <a:gridCol w="1604592"/>
                <a:gridCol w="2430000"/>
                <a:gridCol w="1710000"/>
                <a:gridCol w="2597036"/>
              </a:tblGrid>
              <a:tr h="642700">
                <a:tc>
                  <a:txBody>
                    <a:bodyPr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799"/>
                        </a:spcAft>
                        <a:defRPr/>
                      </a:pPr>
                      <a:r>
                        <a:rPr lang="pt-PT" sz="2400" b="1" i="0" u="none" strike="noStrike" cap="none" spc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rPr>
                        <a:t>Assembler</a:t>
                      </a:r>
                      <a:endParaRPr lang="pt-PT" sz="2400" b="1" i="0" u="none" strike="noStrike" cap="none" spc="0">
                        <a:solidFill>
                          <a:schemeClr val="lt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799"/>
                        </a:spcAft>
                        <a:defRPr/>
                      </a:pPr>
                      <a:r>
                        <a:rPr lang="pt-PT" sz="2400" b="1" i="0" u="none" strike="noStrike" cap="none" spc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rPr>
                        <a:t>Syntax</a:t>
                      </a:r>
                      <a:endParaRPr lang="pt-PT" sz="2400" b="1" i="0" u="none" strike="noStrike" cap="none" spc="0">
                        <a:solidFill>
                          <a:schemeClr val="lt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799"/>
                        </a:spcAft>
                        <a:defRPr/>
                      </a:pPr>
                      <a:r>
                        <a:rPr lang="pt-PT" sz="2400" b="1" i="0" u="none" strike="noStrike" cap="none" spc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rPr>
                        <a:t>Arquitecture</a:t>
                      </a:r>
                      <a:endParaRPr lang="pt-PT" sz="2400" b="1" i="0" u="none" strike="noStrike" cap="none" spc="0">
                        <a:solidFill>
                          <a:schemeClr val="lt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799"/>
                        </a:spcAft>
                        <a:defRPr/>
                      </a:pPr>
                      <a:r>
                        <a:rPr lang="pt-PT" sz="2400" b="1" i="0" u="none" strike="noStrike" cap="none" spc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rPr>
                        <a:t>Platform</a:t>
                      </a:r>
                      <a:endParaRPr lang="pt-PT" sz="2400" b="1" i="0" u="none" strike="noStrike" cap="none" spc="0">
                        <a:solidFill>
                          <a:schemeClr val="lt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799"/>
                        </a:spcAft>
                        <a:defRPr/>
                      </a:pPr>
                      <a:r>
                        <a:rPr lang="pt-PT" sz="2400" b="1" i="0" u="none" strike="noStrike" cap="none" spc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rPr>
                        <a:t>Use/Notes</a:t>
                      </a:r>
                      <a:endParaRPr lang="pt-PT" sz="2400" b="1" i="0" u="none" strike="noStrike" cap="none" spc="0">
                        <a:solidFill>
                          <a:schemeClr val="lt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lang="pt-PT" sz="1600" b="1" i="0" u="none" strike="noStrike" cap="none" spc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NASM (Netwide Assembler)</a:t>
                      </a:r>
                      <a:endParaRPr lang="pt-PT" sz="1600" b="1" i="0" u="none" strike="noStrike" cap="none" spc="0">
                        <a:solidFill>
                          <a:schemeClr val="tx1"/>
                        </a:solidFill>
                        <a:latin typeface="Calibri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pt-PT"/>
                        <a:t>Intel</a:t>
                      </a:r>
                      <a:endParaRPr lang="pt-PT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pt-PT" sz="18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16, 32, 64 bits</a:t>
                      </a:r>
                      <a:endParaRPr lang="pt-PT" sz="1800" b="0" i="0" u="none" strike="noStrike" cap="none" spc="0">
                        <a:solidFill>
                          <a:schemeClr val="tx1"/>
                        </a:solidFill>
                        <a:latin typeface="Calibri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pt-PT" sz="1800" b="0" i="0" u="none" strike="noStrike" cap="none" spc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Linux, Windows, macOS</a:t>
                      </a:r>
                      <a:r>
                        <a:rPr lang="pt-PT" sz="1800" b="0" i="0" u="none" strike="noStrike" cap="none" spc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, DOS</a:t>
                      </a:r>
                      <a:endParaRPr lang="pt-PT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pt-PT" sz="18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ea typeface="Arial"/>
                          <a:cs typeface="Arial"/>
                        </a:rPr>
                        <a:t>Kernels and bootloaders</a:t>
                      </a:r>
                      <a:endParaRPr lang="pt-PT" sz="1800" b="0" i="0" u="none" strike="noStrike" cap="none" spc="0">
                        <a:solidFill>
                          <a:schemeClr val="tx1"/>
                        </a:solidFill>
                        <a:latin typeface="Calibri"/>
                        <a:ea typeface="Arial"/>
                        <a:cs typeface="Arial"/>
                      </a:endParaRPr>
                    </a:p>
                  </a:txBody>
                  <a:tcPr/>
                </a:tc>
              </a:tr>
              <a:tr h="619920">
                <a:tc>
                  <a:txBody>
                    <a:bodyPr/>
                    <a:p>
                      <a:pPr>
                        <a:defRPr/>
                      </a:pPr>
                      <a:r>
                        <a:rPr lang="pt-PT" sz="1600" b="1" i="0" u="none" strike="noStrike" cap="none" spc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MASM (Microsoft Macro Assembler)</a:t>
                      </a:r>
                      <a:endParaRPr lang="pt-PT" sz="1600" b="1" i="0" u="none" strike="noStrike" cap="none" spc="0">
                        <a:solidFill>
                          <a:schemeClr val="tx1"/>
                        </a:solidFill>
                        <a:latin typeface="Calibri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pt-PT"/>
                        <a:t>Intel</a:t>
                      </a:r>
                      <a:endParaRPr lang="pt-PT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pt-PT" sz="18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16, 32, 64 bits</a:t>
                      </a:r>
                      <a:endParaRPr lang="pt-PT" sz="1800" b="0" i="0" u="none" strike="noStrike" cap="none" spc="0">
                        <a:solidFill>
                          <a:schemeClr val="tx1"/>
                        </a:solidFill>
                        <a:latin typeface="Calibri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pt-PT" sz="1800" b="0" i="0" u="none" strike="noStrike" cap="none" spc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Windows, </a:t>
                      </a:r>
                      <a:endParaRPr lang="pt-PT" sz="1800" b="0" i="0" u="none" strike="noStrike" cap="none" spc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>
                        <a:defRPr/>
                      </a:pPr>
                      <a:r>
                        <a:rPr lang="pt-PT" sz="1800" b="0" i="0" u="none" strike="noStrike" cap="none" spc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MS-DOS</a:t>
                      </a:r>
                      <a:endParaRPr lang="pt-PT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pt-PT" sz="18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ea typeface="Arial"/>
                          <a:cs typeface="Arial"/>
                        </a:rPr>
                        <a:t>Drivers</a:t>
                      </a:r>
                      <a:endParaRPr lang="pt-PT" sz="1800" b="0" i="0" u="none" strike="noStrike" cap="none" spc="0">
                        <a:solidFill>
                          <a:schemeClr val="tx1"/>
                        </a:solidFill>
                        <a:latin typeface="Calibri"/>
                        <a:ea typeface="Arial"/>
                        <a:cs typeface="Arial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lang="pt-PT" sz="1600" b="1" i="0" u="none" strike="noStrike" cap="none" spc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GAS (GNU Assembler)</a:t>
                      </a:r>
                      <a:endParaRPr lang="pt-PT" sz="1600" b="1" i="0" u="none" strike="noStrike" cap="none" spc="0">
                        <a:solidFill>
                          <a:schemeClr val="tx1"/>
                        </a:solidFill>
                        <a:latin typeface="Calibri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pt-PT"/>
                        <a:t>AT&amp;T, Intel</a:t>
                      </a:r>
                      <a:endParaRPr lang="pt-PT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pt-PT" sz="18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x86, ARM, MIPS, RISC- V, SPARC</a:t>
                      </a:r>
                      <a:endParaRPr lang="pt-PT" sz="1800" b="0" i="0" u="none" strike="noStrike" cap="none" spc="0">
                        <a:solidFill>
                          <a:schemeClr val="tx1"/>
                        </a:solidFill>
                        <a:latin typeface="Calibri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pt-PT" sz="1800" b="0" i="0" u="none" strike="noStrike" cap="none" spc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Linux/Unix</a:t>
                      </a:r>
                      <a:endParaRPr lang="pt-PT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pt-PT" sz="18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ea typeface="Arial"/>
                          <a:cs typeface="Arial"/>
                        </a:rPr>
                        <a:t>Standard in kernels on Linux/Unix systems</a:t>
                      </a:r>
                      <a:endParaRPr lang="pt-PT" sz="1800" b="0" i="0" u="none" strike="noStrike" cap="none" spc="0">
                        <a:solidFill>
                          <a:schemeClr val="tx1"/>
                        </a:solidFill>
                        <a:latin typeface="Calibri"/>
                        <a:ea typeface="Arial"/>
                        <a:cs typeface="Arial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lang="pt-PT" sz="1600" b="1" i="0" u="none" strike="noStrike" cap="none" spc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GAS (ARM)</a:t>
                      </a:r>
                      <a:endParaRPr lang="pt-PT" sz="1600" b="1" i="0" u="none" strike="noStrike" cap="none" spc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pt-PT"/>
                        <a:t>ARM</a:t>
                      </a:r>
                      <a:endParaRPr lang="pt-PT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pt-PT" sz="18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ARM32/ARM64</a:t>
                      </a:r>
                      <a:endParaRPr lang="pt-PT" sz="1800" b="0" i="0" u="none" strike="noStrike" cap="none" spc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pt-PT" sz="1800" b="0" i="0" u="none" strike="noStrike" cap="none" spc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Linux/Android</a:t>
                      </a:r>
                      <a:endParaRPr lang="pt-PT" sz="1800" b="0" i="0" u="none" strike="noStrike" cap="none" spc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pt-PT" sz="18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Sistemas Linux de ARM</a:t>
                      </a:r>
                      <a:endParaRPr lang="pt-PT" sz="1800" b="0" i="0" u="none" strike="noStrike" cap="none" spc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>
                        <a:defRPr/>
                      </a:pPr>
                      <a:r>
                        <a:rPr lang="pt-PT" sz="18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 e Android</a:t>
                      </a:r>
                      <a:endParaRPr lang="pt-PT" sz="1800" b="0" i="0" u="none" strike="noStrike" cap="none" spc="0">
                        <a:solidFill>
                          <a:schemeClr val="tx1"/>
                        </a:solidFill>
                        <a:latin typeface="Calibri"/>
                        <a:ea typeface="Arial"/>
                        <a:cs typeface="Arial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lang="pt-PT" sz="1600" b="1" i="0" u="none" strike="noStrike" cap="none" spc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ARMASM</a:t>
                      </a:r>
                      <a:endParaRPr lang="pt-PT" sz="1600" b="1" i="0" u="none" strike="noStrike" cap="none" spc="0">
                        <a:solidFill>
                          <a:schemeClr val="tx1"/>
                        </a:solidFill>
                        <a:latin typeface="Calibri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pt-PT" sz="1800" b="0" i="0" u="none" strike="noStrike" cap="none" spc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ARM</a:t>
                      </a:r>
                      <a:endParaRPr lang="pt-PT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pt-PT" sz="18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ARM32/ARM64</a:t>
                      </a:r>
                      <a:endParaRPr lang="pt-PT" sz="1800" b="0" i="0" u="none" strike="noStrike" cap="none" spc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pt-PT" sz="1800" b="0" i="0" u="none" strike="noStrike" cap="none" spc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Windows, Linux</a:t>
                      </a:r>
                      <a:endParaRPr lang="pt-PT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pt-PT" sz="18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ea typeface="Arial"/>
                          <a:cs typeface="Arial"/>
                        </a:rPr>
                        <a:t>Embedded Systems</a:t>
                      </a:r>
                      <a:endParaRPr lang="pt-PT" sz="1800" b="0" i="0" u="none" strike="noStrike" cap="none" spc="0">
                        <a:solidFill>
                          <a:schemeClr val="tx1"/>
                        </a:solidFill>
                        <a:latin typeface="Calibri"/>
                        <a:ea typeface="Arial"/>
                        <a:cs typeface="Arial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lang="pt-PT" sz="1600" b="1" i="0" u="none" strike="noStrike" cap="none" spc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LLVM / Clang ASM</a:t>
                      </a:r>
                      <a:endParaRPr lang="pt-PT" sz="1600" b="1" i="0" u="none" strike="noStrike" cap="none" spc="0">
                        <a:solidFill>
                          <a:schemeClr val="tx1"/>
                        </a:solidFill>
                        <a:latin typeface="Calibri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pt-PT"/>
                        <a:t>ARM</a:t>
                      </a:r>
                      <a:endParaRPr lang="pt-PT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pt-PT" sz="18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ARM64</a:t>
                      </a:r>
                      <a:endParaRPr lang="pt-PT" sz="1800" b="0" i="0" u="none" strike="noStrike" cap="none" spc="0">
                        <a:solidFill>
                          <a:schemeClr val="tx1"/>
                        </a:solidFill>
                        <a:latin typeface="Calibri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pt-PT" sz="1800" b="0" i="0" u="none" strike="noStrike" cap="none" spc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Linux, </a:t>
                      </a:r>
                      <a:r>
                        <a:rPr lang="pt-PT" sz="1800" b="0" i="0" u="none" strike="noStrike" cap="none" spc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Android</a:t>
                      </a:r>
                      <a:r>
                        <a:rPr lang="pt-PT" sz="1800" b="0" i="0" u="none" strike="noStrike" cap="none" spc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, </a:t>
                      </a:r>
                      <a:r>
                        <a:rPr lang="pt-PT" sz="1800" b="0" i="0" u="none" strike="noStrike" cap="none" spc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i</a:t>
                      </a:r>
                      <a:r>
                        <a:rPr lang="pt-PT" sz="1800" b="0" i="0" u="none" strike="noStrike" cap="none" spc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OS</a:t>
                      </a:r>
                      <a:endParaRPr lang="pt-PT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pt-PT" sz="18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ea typeface="Arial"/>
                          <a:cs typeface="Arial"/>
                        </a:rPr>
                        <a:t>Modern Mobile and </a:t>
                      </a:r>
                      <a:r>
                        <a:rPr lang="pt-BR" sz="18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ea typeface="Arial"/>
                          <a:cs typeface="Arial"/>
                        </a:rPr>
                        <a:t>Iphones</a:t>
                      </a:r>
                      <a:endParaRPr lang="pt-PT" sz="1800" b="0" i="0" u="none" strike="noStrike" cap="none" spc="0">
                        <a:solidFill>
                          <a:schemeClr val="tx1"/>
                        </a:solidFill>
                        <a:latin typeface="Calibri"/>
                        <a:ea typeface="Arial"/>
                        <a:cs typeface="Arial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0195364" name="Text 0"/>
          <p:cNvSpPr/>
          <p:nvPr/>
        </p:nvSpPr>
        <p:spPr bwMode="auto">
          <a:xfrm>
            <a:off x="761999" y="507999"/>
            <a:ext cx="6697218" cy="451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66"/>
              </a:lnSpc>
              <a:spcAft>
                <a:spcPts val="1874"/>
              </a:spcAft>
              <a:buNone/>
              <a:defRPr/>
            </a:pPr>
            <a:r>
              <a:rPr lang="pt-PT" sz="2400" b="1">
                <a:solidFill>
                  <a:srgbClr val="2C5282"/>
                </a:solidFill>
                <a:latin typeface="Arial"/>
                <a:ea typeface="Arial"/>
                <a:cs typeface="Arial"/>
              </a:rPr>
              <a:t>MIPS: Arquitectura Determinística</a:t>
            </a:r>
            <a:endParaRPr lang="pt-PT" sz="2400"/>
          </a:p>
        </p:txBody>
      </p:sp>
      <p:sp>
        <p:nvSpPr>
          <p:cNvPr id="72067023" name="Text 1"/>
          <p:cNvSpPr/>
          <p:nvPr/>
        </p:nvSpPr>
        <p:spPr bwMode="auto">
          <a:xfrm>
            <a:off x="761999" y="1467445"/>
            <a:ext cx="5246369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79"/>
              </a:lnSpc>
              <a:spcBef>
                <a:spcPts val="1124"/>
              </a:spcBef>
              <a:spcAft>
                <a:spcPts val="749"/>
              </a:spcAft>
              <a:buNone/>
              <a:defRPr/>
            </a:pPr>
            <a:r>
              <a:rPr lang="pt-PT" sz="1650" b="1">
                <a:solidFill>
                  <a:srgbClr val="2B6CB0"/>
                </a:solidFill>
                <a:latin typeface="Arial"/>
                <a:ea typeface="Arial"/>
                <a:cs typeface="Arial"/>
              </a:rPr>
              <a:t>Características</a:t>
            </a:r>
            <a:endParaRPr lang="pt-PT" sz="1650"/>
          </a:p>
        </p:txBody>
      </p:sp>
      <p:sp>
        <p:nvSpPr>
          <p:cNvPr id="1950905736" name="Text 2"/>
          <p:cNvSpPr/>
          <p:nvPr/>
        </p:nvSpPr>
        <p:spPr bwMode="auto">
          <a:xfrm>
            <a:off x="761999" y="1929606"/>
            <a:ext cx="5143500" cy="1777999"/>
          </a:xfrm>
          <a:prstGeom prst="rect">
            <a:avLst/>
          </a:prstGeom>
          <a:noFill/>
          <a:ln/>
        </p:spPr>
        <p:txBody>
          <a:bodyPr wrap="square" lIns="119062" tIns="0" rIns="0" bIns="0" rtlCol="0" anchor="t"/>
          <a:lstStyle/>
          <a:p>
            <a:pPr marL="119062" indent="-119062" algn="l">
              <a:lnSpc>
                <a:spcPts val="2099"/>
              </a:lnSpc>
              <a:spcAft>
                <a:spcPts val="599"/>
              </a:spcAft>
              <a:buSzPct val="100000"/>
              <a:buChar char="•"/>
              <a:defRPr/>
            </a:pPr>
            <a:r>
              <a:rPr lang="pt-PT" sz="1350">
                <a:solidFill>
                  <a:srgbClr val="333333"/>
                </a:solidFill>
                <a:latin typeface="Arial"/>
                <a:ea typeface="Arial"/>
                <a:cs typeface="Arial"/>
              </a:rPr>
              <a:t>Anos 80, ISA fixo</a:t>
            </a:r>
            <a:endParaRPr lang="pt-PT" sz="1350"/>
          </a:p>
          <a:p>
            <a:pPr marL="119062" indent="-119062" algn="l">
              <a:lnSpc>
                <a:spcPts val="2099"/>
              </a:lnSpc>
              <a:spcAft>
                <a:spcPts val="599"/>
              </a:spcAft>
              <a:buSzPct val="100000"/>
              <a:buChar char="•"/>
              <a:defRPr/>
            </a:pPr>
            <a:r>
              <a:rPr lang="pt-PT" sz="1350">
                <a:solidFill>
                  <a:srgbClr val="333333"/>
                </a:solidFill>
                <a:latin typeface="Arial"/>
                <a:ea typeface="Arial"/>
                <a:cs typeface="Arial"/>
              </a:rPr>
              <a:t>Sequential consistency</a:t>
            </a:r>
            <a:endParaRPr lang="pt-PT" sz="1350"/>
          </a:p>
          <a:p>
            <a:pPr marL="119062" indent="-119062" algn="l">
              <a:lnSpc>
                <a:spcPts val="2099"/>
              </a:lnSpc>
              <a:spcAft>
                <a:spcPts val="599"/>
              </a:spcAft>
              <a:buSzPct val="100000"/>
              <a:buChar char="•"/>
              <a:defRPr/>
            </a:pPr>
            <a:r>
              <a:rPr lang="pt-PT" sz="1350">
                <a:solidFill>
                  <a:srgbClr val="333333"/>
                </a:solidFill>
                <a:latin typeface="Arial"/>
                <a:ea typeface="Arial"/>
                <a:cs typeface="Arial"/>
              </a:rPr>
              <a:t>Determinística e previsível</a:t>
            </a:r>
            <a:endParaRPr lang="pt-PT" sz="1350"/>
          </a:p>
        </p:txBody>
      </p:sp>
      <p:sp>
        <p:nvSpPr>
          <p:cNvPr id="2024315915" name="Text 3"/>
          <p:cNvSpPr/>
          <p:nvPr/>
        </p:nvSpPr>
        <p:spPr bwMode="auto">
          <a:xfrm>
            <a:off x="761999" y="3898106"/>
            <a:ext cx="5246369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79"/>
              </a:lnSpc>
              <a:spcBef>
                <a:spcPts val="1124"/>
              </a:spcBef>
              <a:spcAft>
                <a:spcPts val="749"/>
              </a:spcAft>
              <a:buNone/>
              <a:defRPr/>
            </a:pPr>
            <a:r>
              <a:rPr lang="pt-PT" sz="1650" b="1">
                <a:solidFill>
                  <a:srgbClr val="2B6CB0"/>
                </a:solidFill>
                <a:latin typeface="Arial"/>
                <a:ea typeface="Arial"/>
                <a:cs typeface="Arial"/>
              </a:rPr>
              <a:t>Limitações</a:t>
            </a:r>
            <a:endParaRPr lang="pt-PT" sz="1650"/>
          </a:p>
        </p:txBody>
      </p:sp>
      <p:sp>
        <p:nvSpPr>
          <p:cNvPr id="1751357118" name="Text 4"/>
          <p:cNvSpPr/>
          <p:nvPr/>
        </p:nvSpPr>
        <p:spPr bwMode="auto">
          <a:xfrm>
            <a:off x="761999" y="4360266"/>
            <a:ext cx="5143500" cy="1168398"/>
          </a:xfrm>
          <a:prstGeom prst="rect">
            <a:avLst/>
          </a:prstGeom>
          <a:noFill/>
          <a:ln/>
        </p:spPr>
        <p:txBody>
          <a:bodyPr wrap="square" lIns="119062" tIns="0" rIns="0" bIns="0" rtlCol="0" anchor="t"/>
          <a:lstStyle/>
          <a:p>
            <a:pPr marL="119062" indent="-119062" algn="l">
              <a:lnSpc>
                <a:spcPts val="2099"/>
              </a:lnSpc>
              <a:spcAft>
                <a:spcPts val="599"/>
              </a:spcAft>
              <a:buSzPct val="100000"/>
              <a:buChar char="•"/>
              <a:defRPr/>
            </a:pPr>
            <a:r>
              <a:rPr lang="pt-PT" sz="1350">
                <a:solidFill>
                  <a:srgbClr val="333333"/>
                </a:solidFill>
                <a:latin typeface="Arial"/>
                <a:ea typeface="Arial"/>
                <a:cs typeface="Arial"/>
              </a:rPr>
              <a:t>Proprietária, ISA monolítico</a:t>
            </a:r>
            <a:endParaRPr lang="pt-PT" sz="1350"/>
          </a:p>
          <a:p>
            <a:pPr marL="119062" indent="-119062" algn="l">
              <a:lnSpc>
                <a:spcPts val="2099"/>
              </a:lnSpc>
              <a:spcAft>
                <a:spcPts val="599"/>
              </a:spcAft>
              <a:buSzPct val="100000"/>
              <a:buChar char="•"/>
              <a:defRPr/>
            </a:pPr>
            <a:r>
              <a:rPr lang="pt-PT" sz="1350">
                <a:solidFill>
                  <a:srgbClr val="333333"/>
                </a:solidFill>
                <a:latin typeface="Arial"/>
                <a:ea typeface="Arial"/>
                <a:cs typeface="Arial"/>
              </a:rPr>
              <a:t>Ver</a:t>
            </a:r>
            <a:r>
              <a:rPr lang="pt-PT" sz="1350">
                <a:solidFill>
                  <a:srgbClr val="333333"/>
                </a:solidFill>
                <a:latin typeface="Arial"/>
                <a:ea typeface="Arial"/>
                <a:cs typeface="Arial"/>
              </a:rPr>
              <a:t>Antigas: 2 instruções/branch</a:t>
            </a:r>
            <a:endParaRPr lang="pt-PT" sz="1350"/>
          </a:p>
        </p:txBody>
      </p:sp>
      <p:sp>
        <p:nvSpPr>
          <p:cNvPr id="1293525555" name="Text 5"/>
          <p:cNvSpPr/>
          <p:nvPr/>
        </p:nvSpPr>
        <p:spPr bwMode="auto">
          <a:xfrm>
            <a:off x="6286500" y="1467445"/>
            <a:ext cx="5246369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79"/>
              </a:lnSpc>
              <a:spcBef>
                <a:spcPts val="1124"/>
              </a:spcBef>
              <a:spcAft>
                <a:spcPts val="749"/>
              </a:spcAft>
              <a:buNone/>
              <a:defRPr/>
            </a:pPr>
            <a:r>
              <a:rPr lang="pt-PT" sz="1650" b="1">
                <a:solidFill>
                  <a:srgbClr val="2B6CB0"/>
                </a:solidFill>
                <a:latin typeface="Arial"/>
                <a:ea typeface="Arial"/>
                <a:cs typeface="Arial"/>
              </a:rPr>
              <a:t>Exemplo</a:t>
            </a:r>
            <a:endParaRPr lang="pt-PT" sz="1650"/>
          </a:p>
        </p:txBody>
      </p:sp>
      <p:sp>
        <p:nvSpPr>
          <p:cNvPr id="991358389" name="Text 6"/>
          <p:cNvSpPr/>
          <p:nvPr/>
        </p:nvSpPr>
        <p:spPr bwMode="auto">
          <a:xfrm>
            <a:off x="6286500" y="1929606"/>
            <a:ext cx="5246369" cy="342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4"/>
              </a:lnSpc>
              <a:spcBef>
                <a:spcPts val="749"/>
              </a:spcBef>
              <a:spcAft>
                <a:spcPts val="749"/>
              </a:spcAft>
              <a:buNone/>
              <a:defRPr/>
            </a:pPr>
            <a:r>
              <a:rPr lang="pt-PT" sz="1350">
                <a:solidFill>
                  <a:srgbClr val="333333"/>
                </a:solidFill>
                <a:latin typeface="Arial"/>
                <a:ea typeface="Arial"/>
                <a:cs typeface="Arial"/>
              </a:rPr>
              <a:t>slt $t0, $s1, $s2</a:t>
            </a:r>
            <a:endParaRPr lang="pt-PT" sz="1350"/>
          </a:p>
        </p:txBody>
      </p:sp>
      <p:sp>
        <p:nvSpPr>
          <p:cNvPr id="57224135" name="Text 7"/>
          <p:cNvSpPr/>
          <p:nvPr/>
        </p:nvSpPr>
        <p:spPr bwMode="auto">
          <a:xfrm>
            <a:off x="6286500" y="2399506"/>
            <a:ext cx="5246369" cy="342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4"/>
              </a:lnSpc>
              <a:spcBef>
                <a:spcPts val="749"/>
              </a:spcBef>
              <a:spcAft>
                <a:spcPts val="749"/>
              </a:spcAft>
              <a:buNone/>
              <a:defRPr/>
            </a:pPr>
            <a:r>
              <a:rPr lang="pt-PT" sz="1350">
                <a:solidFill>
                  <a:srgbClr val="333333"/>
                </a:solidFill>
                <a:latin typeface="Arial"/>
                <a:ea typeface="Arial"/>
                <a:cs typeface="Arial"/>
              </a:rPr>
              <a:t>bne $t0, $zero, label</a:t>
            </a:r>
            <a:endParaRPr lang="pt-PT" sz="13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4052436" name="Text 0"/>
          <p:cNvSpPr/>
          <p:nvPr/>
        </p:nvSpPr>
        <p:spPr bwMode="auto">
          <a:xfrm>
            <a:off x="761999" y="507999"/>
            <a:ext cx="5971793" cy="451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66"/>
              </a:lnSpc>
              <a:spcAft>
                <a:spcPts val="1874"/>
              </a:spcAft>
              <a:buNone/>
              <a:defRPr/>
            </a:pPr>
            <a:r>
              <a:rPr lang="pt-PT" sz="2400" b="1">
                <a:solidFill>
                  <a:srgbClr val="2C5282"/>
                </a:solidFill>
                <a:latin typeface="Arial"/>
                <a:ea typeface="Arial"/>
                <a:cs typeface="Arial"/>
              </a:rPr>
              <a:t>RISC-V: Open-Source Modular</a:t>
            </a:r>
            <a:endParaRPr lang="pt-PT" sz="2400"/>
          </a:p>
        </p:txBody>
      </p:sp>
      <p:sp>
        <p:nvSpPr>
          <p:cNvPr id="1140376829" name="Text 1"/>
          <p:cNvSpPr/>
          <p:nvPr/>
        </p:nvSpPr>
        <p:spPr bwMode="auto">
          <a:xfrm>
            <a:off x="761999" y="1467445"/>
            <a:ext cx="5246369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79"/>
              </a:lnSpc>
              <a:spcBef>
                <a:spcPts val="1124"/>
              </a:spcBef>
              <a:spcAft>
                <a:spcPts val="749"/>
              </a:spcAft>
              <a:buNone/>
              <a:defRPr/>
            </a:pPr>
            <a:r>
              <a:rPr lang="pt-PT" sz="1650" b="1">
                <a:solidFill>
                  <a:srgbClr val="2B6CB0"/>
                </a:solidFill>
                <a:latin typeface="Arial"/>
                <a:ea typeface="Arial"/>
                <a:cs typeface="Arial"/>
              </a:rPr>
              <a:t>Características</a:t>
            </a:r>
            <a:endParaRPr lang="pt-PT" sz="1650"/>
          </a:p>
        </p:txBody>
      </p:sp>
      <p:sp>
        <p:nvSpPr>
          <p:cNvPr id="792907643" name="Text 2"/>
          <p:cNvSpPr/>
          <p:nvPr/>
        </p:nvSpPr>
        <p:spPr bwMode="auto">
          <a:xfrm>
            <a:off x="761999" y="1929606"/>
            <a:ext cx="5143500" cy="1777999"/>
          </a:xfrm>
          <a:prstGeom prst="rect">
            <a:avLst/>
          </a:prstGeom>
          <a:noFill/>
          <a:ln/>
        </p:spPr>
        <p:txBody>
          <a:bodyPr wrap="square" lIns="119062" tIns="0" rIns="0" bIns="0" rtlCol="0" anchor="t"/>
          <a:lstStyle/>
          <a:p>
            <a:pPr marL="119062" indent="-119062" algn="l">
              <a:lnSpc>
                <a:spcPts val="2099"/>
              </a:lnSpc>
              <a:spcAft>
                <a:spcPts val="599"/>
              </a:spcAft>
              <a:buSzPct val="100000"/>
              <a:buChar char="•"/>
              <a:defRPr/>
            </a:pPr>
            <a:r>
              <a:rPr lang="pt-PT" sz="1350">
                <a:solidFill>
                  <a:srgbClr val="333333"/>
                </a:solidFill>
                <a:latin typeface="Arial"/>
                <a:ea typeface="Arial"/>
                <a:cs typeface="Arial"/>
              </a:rPr>
              <a:t>2010 UC Berkeley</a:t>
            </a:r>
            <a:endParaRPr lang="pt-PT" sz="1350"/>
          </a:p>
          <a:p>
            <a:pPr marL="119062" indent="-119062" algn="l">
              <a:lnSpc>
                <a:spcPts val="2099"/>
              </a:lnSpc>
              <a:spcAft>
                <a:spcPts val="599"/>
              </a:spcAft>
              <a:buSzPct val="100000"/>
              <a:buChar char="•"/>
              <a:defRPr/>
            </a:pPr>
            <a:r>
              <a:rPr lang="pt-PT" sz="1350">
                <a:solidFill>
                  <a:srgbClr val="333333"/>
                </a:solidFill>
                <a:latin typeface="Arial"/>
                <a:ea typeface="Arial"/>
                <a:cs typeface="Arial"/>
              </a:rPr>
              <a:t>Open-source, gratuito</a:t>
            </a:r>
            <a:endParaRPr lang="pt-PT" sz="1350"/>
          </a:p>
          <a:p>
            <a:pPr marL="119062" indent="-119062" algn="l">
              <a:lnSpc>
                <a:spcPts val="2099"/>
              </a:lnSpc>
              <a:spcAft>
                <a:spcPts val="599"/>
              </a:spcAft>
              <a:buSzPct val="100000"/>
              <a:buChar char="•"/>
              <a:defRPr/>
            </a:pPr>
            <a:r>
              <a:rPr lang="pt-PT" sz="1350">
                <a:solidFill>
                  <a:srgbClr val="333333"/>
                </a:solidFill>
                <a:latin typeface="Arial"/>
                <a:ea typeface="Arial"/>
                <a:cs typeface="Arial"/>
              </a:rPr>
              <a:t>Modular: base + extensões</a:t>
            </a:r>
            <a:endParaRPr lang="pt-PT" sz="1350"/>
          </a:p>
        </p:txBody>
      </p:sp>
      <p:sp>
        <p:nvSpPr>
          <p:cNvPr id="1667508754" name="Text 3"/>
          <p:cNvSpPr/>
          <p:nvPr/>
        </p:nvSpPr>
        <p:spPr bwMode="auto">
          <a:xfrm>
            <a:off x="761999" y="3898106"/>
            <a:ext cx="5246369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79"/>
              </a:lnSpc>
              <a:spcBef>
                <a:spcPts val="1124"/>
              </a:spcBef>
              <a:spcAft>
                <a:spcPts val="749"/>
              </a:spcAft>
              <a:buNone/>
              <a:defRPr/>
            </a:pPr>
            <a:r>
              <a:rPr lang="pt-PT" sz="1650" b="1">
                <a:solidFill>
                  <a:srgbClr val="2B6CB0"/>
                </a:solidFill>
                <a:latin typeface="Arial"/>
                <a:ea typeface="Arial"/>
                <a:cs typeface="Arial"/>
              </a:rPr>
              <a:t>Modularidade</a:t>
            </a:r>
            <a:endParaRPr lang="pt-PT" sz="1650"/>
          </a:p>
        </p:txBody>
      </p:sp>
      <p:sp>
        <p:nvSpPr>
          <p:cNvPr id="204935411" name="Text 4"/>
          <p:cNvSpPr/>
          <p:nvPr/>
        </p:nvSpPr>
        <p:spPr bwMode="auto">
          <a:xfrm>
            <a:off x="761999" y="4360266"/>
            <a:ext cx="5143500" cy="1777999"/>
          </a:xfrm>
          <a:prstGeom prst="rect">
            <a:avLst/>
          </a:prstGeom>
          <a:noFill/>
          <a:ln/>
        </p:spPr>
        <p:txBody>
          <a:bodyPr wrap="square" lIns="119062" tIns="0" rIns="0" bIns="0" rtlCol="0" anchor="t"/>
          <a:lstStyle/>
          <a:p>
            <a:pPr marL="119062" indent="-119062" algn="l">
              <a:lnSpc>
                <a:spcPts val="2099"/>
              </a:lnSpc>
              <a:spcAft>
                <a:spcPts val="599"/>
              </a:spcAft>
              <a:buSzPct val="100000"/>
              <a:buChar char="•"/>
              <a:defRPr/>
            </a:pPr>
            <a:r>
              <a:rPr lang="pt-PT" sz="1350">
                <a:solidFill>
                  <a:srgbClr val="333333"/>
                </a:solidFill>
                <a:latin typeface="Arial"/>
                <a:ea typeface="Arial"/>
                <a:cs typeface="Arial"/>
              </a:rPr>
              <a:t>RV32I: Base (inteiros)</a:t>
            </a:r>
            <a:endParaRPr lang="pt-PT" sz="1350"/>
          </a:p>
          <a:p>
            <a:pPr marL="119062" indent="-119062" algn="l">
              <a:lnSpc>
                <a:spcPts val="2099"/>
              </a:lnSpc>
              <a:spcAft>
                <a:spcPts val="599"/>
              </a:spcAft>
              <a:buSzPct val="100000"/>
              <a:buChar char="•"/>
              <a:defRPr/>
            </a:pPr>
            <a:r>
              <a:rPr lang="pt-PT" sz="1350">
                <a:solidFill>
                  <a:srgbClr val="333333"/>
                </a:solidFill>
                <a:latin typeface="Arial"/>
                <a:ea typeface="Arial"/>
                <a:cs typeface="Arial"/>
              </a:rPr>
              <a:t>M: mul, div</a:t>
            </a:r>
            <a:endParaRPr lang="pt-PT" sz="1350"/>
          </a:p>
          <a:p>
            <a:pPr marL="119062" indent="-119062" algn="l">
              <a:lnSpc>
                <a:spcPts val="2099"/>
              </a:lnSpc>
              <a:spcAft>
                <a:spcPts val="599"/>
              </a:spcAft>
              <a:buSzPct val="100000"/>
              <a:buChar char="•"/>
              <a:defRPr/>
            </a:pPr>
            <a:r>
              <a:rPr lang="pt-PT" sz="1350">
                <a:solidFill>
                  <a:srgbClr val="333333"/>
                </a:solidFill>
                <a:latin typeface="Arial"/>
                <a:ea typeface="Arial"/>
                <a:cs typeface="Arial"/>
              </a:rPr>
              <a:t>F: float/double (fadd.s, fmul.s)</a:t>
            </a:r>
            <a:endParaRPr lang="pt-PT" sz="1350"/>
          </a:p>
        </p:txBody>
      </p:sp>
      <p:sp>
        <p:nvSpPr>
          <p:cNvPr id="530754660" name="Text 5"/>
          <p:cNvSpPr/>
          <p:nvPr/>
        </p:nvSpPr>
        <p:spPr bwMode="auto">
          <a:xfrm>
            <a:off x="6286500" y="1467445"/>
            <a:ext cx="5246369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79"/>
              </a:lnSpc>
              <a:spcBef>
                <a:spcPts val="1124"/>
              </a:spcBef>
              <a:spcAft>
                <a:spcPts val="749"/>
              </a:spcAft>
              <a:buNone/>
              <a:defRPr/>
            </a:pPr>
            <a:r>
              <a:rPr lang="pt-PT" sz="1650" b="1">
                <a:solidFill>
                  <a:srgbClr val="2B6CB0"/>
                </a:solidFill>
                <a:latin typeface="Arial"/>
                <a:ea typeface="Arial"/>
                <a:cs typeface="Arial"/>
              </a:rPr>
              <a:t>Vantagens</a:t>
            </a:r>
            <a:endParaRPr lang="pt-PT" sz="1650"/>
          </a:p>
        </p:txBody>
      </p:sp>
      <p:sp>
        <p:nvSpPr>
          <p:cNvPr id="965102032" name="Text 6"/>
          <p:cNvSpPr/>
          <p:nvPr/>
        </p:nvSpPr>
        <p:spPr bwMode="auto">
          <a:xfrm>
            <a:off x="6286500" y="1929606"/>
            <a:ext cx="5143500" cy="1777999"/>
          </a:xfrm>
          <a:prstGeom prst="rect">
            <a:avLst/>
          </a:prstGeom>
          <a:noFill/>
          <a:ln/>
        </p:spPr>
        <p:txBody>
          <a:bodyPr wrap="square" lIns="119062" tIns="0" rIns="0" bIns="0" rtlCol="0" anchor="t"/>
          <a:lstStyle/>
          <a:p>
            <a:pPr marL="119062" indent="-119062" algn="l">
              <a:lnSpc>
                <a:spcPts val="2099"/>
              </a:lnSpc>
              <a:spcAft>
                <a:spcPts val="599"/>
              </a:spcAft>
              <a:buSzPct val="100000"/>
              <a:buChar char="•"/>
              <a:defRPr/>
            </a:pPr>
            <a:r>
              <a:rPr lang="pt-PT" sz="1350">
                <a:solidFill>
                  <a:srgbClr val="333333"/>
                </a:solidFill>
                <a:latin typeface="Arial"/>
                <a:ea typeface="Arial"/>
                <a:cs typeface="Arial"/>
              </a:rPr>
              <a:t>Branches directos: blt</a:t>
            </a:r>
            <a:endParaRPr lang="pt-PT" sz="1350"/>
          </a:p>
          <a:p>
            <a:pPr marL="119062" indent="-119062" algn="l">
              <a:lnSpc>
                <a:spcPts val="2099"/>
              </a:lnSpc>
              <a:spcAft>
                <a:spcPts val="599"/>
              </a:spcAft>
              <a:buSzPct val="100000"/>
              <a:buChar char="•"/>
              <a:defRPr/>
            </a:pPr>
            <a:r>
              <a:rPr lang="pt-PT" sz="1350">
                <a:solidFill>
                  <a:srgbClr val="333333"/>
                </a:solidFill>
                <a:latin typeface="Arial"/>
                <a:ea typeface="Arial"/>
                <a:cs typeface="Arial"/>
              </a:rPr>
              <a:t>Barreiras: fence</a:t>
            </a:r>
            <a:endParaRPr lang="pt-PT" sz="1350"/>
          </a:p>
        </p:txBody>
      </p:sp>
      <p:sp>
        <p:nvSpPr>
          <p:cNvPr id="165073067" name="Text 7"/>
          <p:cNvSpPr/>
          <p:nvPr/>
        </p:nvSpPr>
        <p:spPr bwMode="auto">
          <a:xfrm>
            <a:off x="6286500" y="3860006"/>
            <a:ext cx="5143500" cy="901699"/>
          </a:xfrm>
          <a:prstGeom prst="rect">
            <a:avLst/>
          </a:prstGeom>
          <a:solidFill>
            <a:srgbClr val="BEE3F8"/>
          </a:solidFill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endParaRPr lang="pt-PT"/>
          </a:p>
        </p:txBody>
      </p:sp>
      <p:sp>
        <p:nvSpPr>
          <p:cNvPr id="1142229309" name="Shape 8"/>
          <p:cNvSpPr/>
          <p:nvPr/>
        </p:nvSpPr>
        <p:spPr bwMode="auto">
          <a:xfrm>
            <a:off x="6311899" y="3860006"/>
            <a:ext cx="0" cy="901699"/>
          </a:xfrm>
          <a:prstGeom prst="line">
            <a:avLst/>
          </a:prstGeom>
          <a:noFill/>
          <a:ln w="38100">
            <a:solidFill>
              <a:srgbClr val="2B6CB0"/>
            </a:solidFill>
            <a:prstDash val="solid"/>
          </a:ln>
        </p:spPr>
      </p:sp>
      <p:sp>
        <p:nvSpPr>
          <p:cNvPr id="1642794050" name="Text 9"/>
          <p:cNvSpPr/>
          <p:nvPr/>
        </p:nvSpPr>
        <p:spPr bwMode="auto">
          <a:xfrm>
            <a:off x="6527799" y="4139406"/>
            <a:ext cx="4805934" cy="342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4"/>
              </a:lnSpc>
              <a:spcBef>
                <a:spcPts val="749"/>
              </a:spcBef>
              <a:spcAft>
                <a:spcPts val="749"/>
              </a:spcAft>
              <a:buNone/>
              <a:defRPr/>
            </a:pPr>
            <a:r>
              <a:rPr lang="pt-PT" sz="1350">
                <a:solidFill>
                  <a:srgbClr val="333333"/>
                </a:solidFill>
                <a:latin typeface="Arial"/>
                <a:ea typeface="Arial"/>
                <a:cs typeface="Arial"/>
              </a:rPr>
              <a:t>MIPS → RISC-V (2021-25)</a:t>
            </a:r>
            <a:endParaRPr lang="pt-PT" sz="13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1790979" name="Text 0"/>
          <p:cNvSpPr/>
          <p:nvPr/>
        </p:nvSpPr>
        <p:spPr bwMode="auto">
          <a:xfrm>
            <a:off x="761999" y="507999"/>
            <a:ext cx="6865619" cy="451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66"/>
              </a:lnSpc>
              <a:spcAft>
                <a:spcPts val="1874"/>
              </a:spcAft>
              <a:buNone/>
              <a:defRPr/>
            </a:pPr>
            <a:r>
              <a:rPr lang="pt-PT" sz="2400" b="1">
                <a:solidFill>
                  <a:srgbClr val="2C5282"/>
                </a:solidFill>
                <a:latin typeface="Arial"/>
                <a:ea typeface="Arial"/>
                <a:cs typeface="Arial"/>
              </a:rPr>
              <a:t>Assembly: Futuro e Modularização</a:t>
            </a:r>
            <a:endParaRPr lang="pt-PT" sz="2400"/>
          </a:p>
        </p:txBody>
      </p:sp>
      <p:sp>
        <p:nvSpPr>
          <p:cNvPr id="2079693609" name="Text 1"/>
          <p:cNvSpPr/>
          <p:nvPr/>
        </p:nvSpPr>
        <p:spPr bwMode="auto">
          <a:xfrm>
            <a:off x="761999" y="1276945"/>
            <a:ext cx="10881360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79"/>
              </a:lnSpc>
              <a:spcBef>
                <a:spcPts val="1124"/>
              </a:spcBef>
              <a:spcAft>
                <a:spcPts val="749"/>
              </a:spcAft>
              <a:buNone/>
              <a:defRPr/>
            </a:pPr>
            <a:r>
              <a:rPr lang="pt-PT" sz="1650" b="1">
                <a:solidFill>
                  <a:srgbClr val="2B6CB0"/>
                </a:solidFill>
                <a:latin typeface="Arial"/>
                <a:ea typeface="Arial"/>
                <a:cs typeface="Arial"/>
              </a:rPr>
              <a:t>Relevância Contínua</a:t>
            </a:r>
            <a:endParaRPr lang="pt-PT" sz="1650"/>
          </a:p>
        </p:txBody>
      </p:sp>
      <p:sp>
        <p:nvSpPr>
          <p:cNvPr id="1001707826" name="Text 2"/>
          <p:cNvSpPr/>
          <p:nvPr/>
        </p:nvSpPr>
        <p:spPr bwMode="auto">
          <a:xfrm>
            <a:off x="761999" y="1739106"/>
            <a:ext cx="10667999" cy="1777999"/>
          </a:xfrm>
          <a:prstGeom prst="rect">
            <a:avLst/>
          </a:prstGeom>
          <a:noFill/>
          <a:ln/>
        </p:spPr>
        <p:txBody>
          <a:bodyPr wrap="square" lIns="119062" tIns="0" rIns="0" bIns="0" rtlCol="0" anchor="t"/>
          <a:lstStyle/>
          <a:p>
            <a:pPr marL="119062" indent="-119062" algn="l">
              <a:lnSpc>
                <a:spcPts val="2099"/>
              </a:lnSpc>
              <a:spcAft>
                <a:spcPts val="599"/>
              </a:spcAft>
              <a:buSzPct val="100000"/>
              <a:buChar char="•"/>
              <a:defRPr/>
            </a:pPr>
            <a:r>
              <a:rPr lang="pt-PT" sz="1350">
                <a:solidFill>
                  <a:srgbClr val="333333"/>
                </a:solidFill>
                <a:latin typeface="Arial"/>
                <a:ea typeface="Arial"/>
                <a:cs typeface="Arial"/>
              </a:rPr>
              <a:t>Auditoria segurança</a:t>
            </a:r>
            <a:endParaRPr lang="pt-PT" sz="1350"/>
          </a:p>
          <a:p>
            <a:pPr marL="119062" indent="-119062" algn="l">
              <a:lnSpc>
                <a:spcPts val="2099"/>
              </a:lnSpc>
              <a:spcAft>
                <a:spcPts val="599"/>
              </a:spcAft>
              <a:buSzPct val="100000"/>
              <a:buChar char="•"/>
              <a:defRPr/>
            </a:pPr>
            <a:r>
              <a:rPr lang="pt-PT" sz="1350">
                <a:solidFill>
                  <a:srgbClr val="333333"/>
                </a:solidFill>
                <a:latin typeface="Arial"/>
                <a:ea typeface="Arial"/>
                <a:cs typeface="Arial"/>
              </a:rPr>
              <a:t>IoT/edge: eficiência máxima</a:t>
            </a:r>
            <a:endParaRPr lang="pt-PT" sz="1350"/>
          </a:p>
        </p:txBody>
      </p:sp>
      <p:sp>
        <p:nvSpPr>
          <p:cNvPr id="731932608" name="Text 5"/>
          <p:cNvSpPr/>
          <p:nvPr/>
        </p:nvSpPr>
        <p:spPr bwMode="auto">
          <a:xfrm>
            <a:off x="787398" y="3649066"/>
            <a:ext cx="10667999" cy="901699"/>
          </a:xfrm>
          <a:prstGeom prst="rect">
            <a:avLst/>
          </a:prstGeom>
          <a:solidFill>
            <a:srgbClr val="BEE3F8"/>
          </a:solidFill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endParaRPr lang="pt-PT"/>
          </a:p>
        </p:txBody>
      </p:sp>
      <p:sp>
        <p:nvSpPr>
          <p:cNvPr id="1549303060" name="Shape 6"/>
          <p:cNvSpPr/>
          <p:nvPr/>
        </p:nvSpPr>
        <p:spPr bwMode="auto">
          <a:xfrm>
            <a:off x="761999" y="3649066"/>
            <a:ext cx="0" cy="901699"/>
          </a:xfrm>
          <a:prstGeom prst="line">
            <a:avLst/>
          </a:prstGeom>
          <a:noFill/>
          <a:ln w="38100">
            <a:solidFill>
              <a:srgbClr val="2B6CB0"/>
            </a:solidFill>
            <a:prstDash val="solid"/>
          </a:ln>
        </p:spPr>
      </p:sp>
      <p:sp>
        <p:nvSpPr>
          <p:cNvPr id="33261663" name="Text 7"/>
          <p:cNvSpPr/>
          <p:nvPr/>
        </p:nvSpPr>
        <p:spPr bwMode="auto">
          <a:xfrm>
            <a:off x="1028698" y="3928466"/>
            <a:ext cx="10440923" cy="342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4"/>
              </a:lnSpc>
              <a:spcBef>
                <a:spcPts val="749"/>
              </a:spcBef>
              <a:spcAft>
                <a:spcPts val="749"/>
              </a:spcAft>
              <a:buNone/>
              <a:defRPr/>
            </a:pPr>
            <a:r>
              <a:rPr lang="pt-PT" sz="1350">
                <a:solidFill>
                  <a:srgbClr val="333333"/>
                </a:solidFill>
                <a:latin typeface="Arial"/>
                <a:ea typeface="Arial"/>
                <a:cs typeface="Arial"/>
              </a:rPr>
              <a:t>Modularização permite novas arquitecturas</a:t>
            </a:r>
            <a:endParaRPr lang="pt-PT" sz="13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5214083" name="Text 0"/>
          <p:cNvSpPr/>
          <p:nvPr/>
        </p:nvSpPr>
        <p:spPr bwMode="auto">
          <a:xfrm>
            <a:off x="761999" y="507999"/>
            <a:ext cx="7176515" cy="451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66"/>
              </a:lnSpc>
              <a:spcAft>
                <a:spcPts val="1874"/>
              </a:spcAft>
              <a:buNone/>
              <a:defRPr/>
            </a:pPr>
            <a:r>
              <a:rPr lang="pt-BR" sz="2400" b="1">
                <a:solidFill>
                  <a:srgbClr val="2C5282"/>
                </a:solidFill>
                <a:latin typeface="Arial"/>
                <a:ea typeface="Arial"/>
                <a:cs typeface="Arial"/>
              </a:rPr>
              <a:t>Discussão</a:t>
            </a:r>
            <a:endParaRPr lang="pt-PT" sz="2400"/>
          </a:p>
        </p:txBody>
      </p:sp>
      <p:sp>
        <p:nvSpPr>
          <p:cNvPr id="2094441823" name=""/>
          <p:cNvSpPr txBox="1"/>
          <p:nvPr/>
        </p:nvSpPr>
        <p:spPr bwMode="auto">
          <a:xfrm rot="0" flipH="0" flipV="0">
            <a:off x="761999" y="1411879"/>
            <a:ext cx="10102791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pt-BR"/>
              <a:t>A ideia que o </a:t>
            </a:r>
            <a:r>
              <a:rPr lang="pt-BR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RISC-V representa uma nova filosofia: </a:t>
            </a:r>
            <a:endParaRPr lang="pt-BR" sz="18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pt-BR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	hardware aberto, modular, customizável. </a:t>
            </a:r>
            <a:endParaRPr/>
          </a:p>
          <a:p>
            <a:pPr>
              <a:defRPr/>
            </a:pPr>
            <a:r>
              <a:rPr lang="pt-BR"/>
              <a:t>Com isso levanta a possivilidade de</a:t>
            </a:r>
            <a:r>
              <a:rPr lang="pt-BR"/>
              <a:t> inovação para </a:t>
            </a:r>
            <a:r>
              <a:rPr lang="pt-BR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 Assembly é a ferramenta que permite explorar estas novas fronteiras.</a:t>
            </a:r>
            <a:endParaRPr lang="pt-B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ONLYOFFICE/9.2.1.43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Assembly</dc:title>
  <dc:creator>Filipe Dantas</dc:creator>
  <cp:lastModifiedBy/>
  <cp:revision>7</cp:revision>
  <dcterms:created xsi:type="dcterms:W3CDTF">2026-01-15T15:12:53Z</dcterms:created>
  <dcterms:modified xsi:type="dcterms:W3CDTF">2026-01-23T21:05:04Z</dcterms:modified>
</cp:coreProperties>
</file>