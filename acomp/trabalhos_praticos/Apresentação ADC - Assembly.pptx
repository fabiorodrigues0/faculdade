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64" d="100"/>
          <a:sy n="64" d="100"/>
        </p:scale>
        <p:origin x="724" y="52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 /><Relationship Id="rId17" Type="http://schemas.openxmlformats.org/officeDocument/2006/relationships/tableStyles" Target="tableStyles.xml" /><Relationship Id="rId18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694217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29285803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761122356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2107370017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18998966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983375963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045437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576907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08786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D53B3D7-2B8F-EF0F-7B65-971715EB573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153989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121132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01528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5CBB7A7-0F3A-179A-3D97-4A197B7E1A4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322664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760348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95047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B11CE4F-37B9-73FF-1710-DD8DA8B439A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072528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771159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97637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68F25FA-5B84-F0AA-8E54-60E5D95B994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000289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896643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66140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EA3761-BA06-A003-6D4B-A415B804ACE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749684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163762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723439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74C38D-23AE-5FB6-4CC0-8C438AD8EC7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540663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869667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788897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404BB63-477B-CB3A-BD6C-D78376CE16E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429176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031113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268842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0D24846-F818-9597-8034-326014A1FEA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341043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873629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161609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6AF7C5A-ECEE-135F-FA31-0FA9E584307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476662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255537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030623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BD039F6-CED3-C26F-7FE6-95B72442DD1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336346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108810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06490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4B30C5-49BE-58AF-1FC9-4D92DBDEC52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1221235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GB"/>
              <a:t>Click to edit Master title style</a:t>
            </a:r>
            <a:endParaRPr/>
          </a:p>
        </p:txBody>
      </p:sp>
      <p:sp>
        <p:nvSpPr>
          <p:cNvPr id="257868224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GB"/>
              <a:t>Click to edit Master subtitle style</a:t>
            </a:r>
            <a:endParaRPr/>
          </a:p>
        </p:txBody>
      </p:sp>
      <p:sp>
        <p:nvSpPr>
          <p:cNvPr id="90475870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A5A3E37-5CAF-4B53-B5AD-ED3A5CFF03D4}" type="datetimeFigureOut">
              <a:rPr lang="en-GB"/>
              <a:t>15/01/2026</a:t>
            </a:fld>
            <a:endParaRPr lang="en-GB"/>
          </a:p>
        </p:txBody>
      </p:sp>
      <p:sp>
        <p:nvSpPr>
          <p:cNvPr id="164575420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87157956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6295227-B3AB-404D-8EC4-A0939454E341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454440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Click to edit Master title style</a:t>
            </a:r>
            <a:endParaRPr/>
          </a:p>
        </p:txBody>
      </p:sp>
      <p:sp>
        <p:nvSpPr>
          <p:cNvPr id="75309045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/>
          </a:p>
        </p:txBody>
      </p:sp>
      <p:sp>
        <p:nvSpPr>
          <p:cNvPr id="135711938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A5A3E37-5CAF-4B53-B5AD-ED3A5CFF03D4}" type="datetimeFigureOut">
              <a:rPr lang="en-GB"/>
              <a:t>15/01/2026</a:t>
            </a:fld>
            <a:endParaRPr lang="en-GB"/>
          </a:p>
        </p:txBody>
      </p:sp>
      <p:sp>
        <p:nvSpPr>
          <p:cNvPr id="167246230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2744611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6295227-B3AB-404D-8EC4-A0939454E341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2109315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GB"/>
              <a:t>Click to edit Master title style</a:t>
            </a:r>
            <a:endParaRPr/>
          </a:p>
        </p:txBody>
      </p:sp>
      <p:sp>
        <p:nvSpPr>
          <p:cNvPr id="21116590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GB"/>
              <a:t>Click to edit Master text styles</a:t>
            </a:r>
            <a:endParaRPr/>
          </a:p>
        </p:txBody>
      </p:sp>
      <p:sp>
        <p:nvSpPr>
          <p:cNvPr id="27942912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A5A3E37-5CAF-4B53-B5AD-ED3A5CFF03D4}" type="datetimeFigureOut">
              <a:rPr lang="en-GB"/>
              <a:t>15/01/2026</a:t>
            </a:fld>
            <a:endParaRPr lang="en-GB"/>
          </a:p>
        </p:txBody>
      </p:sp>
      <p:sp>
        <p:nvSpPr>
          <p:cNvPr id="87002722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6193733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6295227-B3AB-404D-8EC4-A0939454E341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22018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Click to edit Master title style</a:t>
            </a:r>
            <a:endParaRPr/>
          </a:p>
        </p:txBody>
      </p:sp>
      <p:sp>
        <p:nvSpPr>
          <p:cNvPr id="196808640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/>
          </a:p>
        </p:txBody>
      </p:sp>
      <p:sp>
        <p:nvSpPr>
          <p:cNvPr id="145875999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/>
          </a:p>
        </p:txBody>
      </p:sp>
      <p:sp>
        <p:nvSpPr>
          <p:cNvPr id="41206107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A5A3E37-5CAF-4B53-B5AD-ED3A5CFF03D4}" type="datetimeFigureOut">
              <a:rPr lang="en-GB"/>
              <a:t>15/01/2026</a:t>
            </a:fld>
            <a:endParaRPr lang="en-GB"/>
          </a:p>
        </p:txBody>
      </p:sp>
      <p:sp>
        <p:nvSpPr>
          <p:cNvPr id="87924606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54023507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6295227-B3AB-404D-8EC4-A0939454E341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1165574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GB"/>
              <a:t>Click to edit Master title style</a:t>
            </a:r>
            <a:endParaRPr/>
          </a:p>
        </p:txBody>
      </p:sp>
      <p:sp>
        <p:nvSpPr>
          <p:cNvPr id="202380477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GB"/>
              <a:t>Click to edit Master text styles</a:t>
            </a:r>
            <a:endParaRPr/>
          </a:p>
        </p:txBody>
      </p:sp>
      <p:sp>
        <p:nvSpPr>
          <p:cNvPr id="152570379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/>
          </a:p>
        </p:txBody>
      </p:sp>
      <p:sp>
        <p:nvSpPr>
          <p:cNvPr id="1242814206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GB"/>
              <a:t>Click to edit Master text styles</a:t>
            </a:r>
            <a:endParaRPr/>
          </a:p>
        </p:txBody>
      </p:sp>
      <p:sp>
        <p:nvSpPr>
          <p:cNvPr id="1687454904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/>
          </a:p>
        </p:txBody>
      </p:sp>
      <p:sp>
        <p:nvSpPr>
          <p:cNvPr id="1782269625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A5A3E37-5CAF-4B53-B5AD-ED3A5CFF03D4}" type="datetimeFigureOut">
              <a:rPr lang="en-GB"/>
              <a:t>15/01/2026</a:t>
            </a:fld>
            <a:endParaRPr lang="en-GB"/>
          </a:p>
        </p:txBody>
      </p:sp>
      <p:sp>
        <p:nvSpPr>
          <p:cNvPr id="1236129481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684349045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6295227-B3AB-404D-8EC4-A0939454E341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094421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Click to edit Master title style</a:t>
            </a:r>
            <a:endParaRPr/>
          </a:p>
        </p:txBody>
      </p:sp>
      <p:sp>
        <p:nvSpPr>
          <p:cNvPr id="1870838632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A5A3E37-5CAF-4B53-B5AD-ED3A5CFF03D4}" type="datetimeFigureOut">
              <a:rPr lang="en-GB"/>
              <a:t>15/01/2026</a:t>
            </a:fld>
            <a:endParaRPr lang="en-GB"/>
          </a:p>
        </p:txBody>
      </p:sp>
      <p:sp>
        <p:nvSpPr>
          <p:cNvPr id="46020316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304229960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6295227-B3AB-404D-8EC4-A0939454E341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1009628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A5A3E37-5CAF-4B53-B5AD-ED3A5CFF03D4}" type="datetimeFigureOut">
              <a:rPr lang="en-GB"/>
              <a:t>15/01/2026</a:t>
            </a:fld>
            <a:endParaRPr lang="en-GB"/>
          </a:p>
        </p:txBody>
      </p:sp>
      <p:sp>
        <p:nvSpPr>
          <p:cNvPr id="1820519561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95029018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6295227-B3AB-404D-8EC4-A0939454E341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8590851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GB"/>
              <a:t>Click to edit Master title style</a:t>
            </a:r>
            <a:endParaRPr/>
          </a:p>
        </p:txBody>
      </p:sp>
      <p:sp>
        <p:nvSpPr>
          <p:cNvPr id="2021369687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/>
          </a:p>
        </p:txBody>
      </p:sp>
      <p:sp>
        <p:nvSpPr>
          <p:cNvPr id="179392038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GB"/>
              <a:t>Click to edit Master text styles</a:t>
            </a:r>
            <a:endParaRPr/>
          </a:p>
        </p:txBody>
      </p:sp>
      <p:sp>
        <p:nvSpPr>
          <p:cNvPr id="203145321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A5A3E37-5CAF-4B53-B5AD-ED3A5CFF03D4}" type="datetimeFigureOut">
              <a:rPr lang="en-GB"/>
              <a:t>15/01/2026</a:t>
            </a:fld>
            <a:endParaRPr lang="en-GB"/>
          </a:p>
        </p:txBody>
      </p:sp>
      <p:sp>
        <p:nvSpPr>
          <p:cNvPr id="206354475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2342895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6295227-B3AB-404D-8EC4-A0939454E341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8422818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GB"/>
              <a:t>Click to edit Master title style</a:t>
            </a:r>
            <a:endParaRPr/>
          </a:p>
        </p:txBody>
      </p:sp>
      <p:sp>
        <p:nvSpPr>
          <p:cNvPr id="84879768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GB"/>
          </a:p>
        </p:txBody>
      </p:sp>
      <p:sp>
        <p:nvSpPr>
          <p:cNvPr id="1403602027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GB"/>
              <a:t>Click to edit Master text styles</a:t>
            </a:r>
            <a:endParaRPr/>
          </a:p>
        </p:txBody>
      </p:sp>
      <p:sp>
        <p:nvSpPr>
          <p:cNvPr id="155552113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A5A3E37-5CAF-4B53-B5AD-ED3A5CFF03D4}" type="datetimeFigureOut">
              <a:rPr lang="en-GB"/>
              <a:t>15/01/2026</a:t>
            </a:fld>
            <a:endParaRPr lang="en-GB"/>
          </a:p>
        </p:txBody>
      </p:sp>
      <p:sp>
        <p:nvSpPr>
          <p:cNvPr id="20323597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92913265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6295227-B3AB-404D-8EC4-A0939454E341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686932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Click to edit Master title style</a:t>
            </a:r>
            <a:endParaRPr/>
          </a:p>
        </p:txBody>
      </p:sp>
      <p:sp>
        <p:nvSpPr>
          <p:cNvPr id="1340323758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/>
          </a:p>
        </p:txBody>
      </p:sp>
      <p:sp>
        <p:nvSpPr>
          <p:cNvPr id="110639180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A5A3E37-5CAF-4B53-B5AD-ED3A5CFF03D4}" type="datetimeFigureOut">
              <a:rPr lang="en-GB"/>
              <a:t>15/01/2026</a:t>
            </a:fld>
            <a:endParaRPr lang="en-GB"/>
          </a:p>
        </p:txBody>
      </p:sp>
      <p:sp>
        <p:nvSpPr>
          <p:cNvPr id="64777214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1204463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6295227-B3AB-404D-8EC4-A0939454E341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4939651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GB"/>
              <a:t>Click to edit Master title style</a:t>
            </a:r>
            <a:endParaRPr/>
          </a:p>
        </p:txBody>
      </p:sp>
      <p:sp>
        <p:nvSpPr>
          <p:cNvPr id="873851508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/>
          </a:p>
        </p:txBody>
      </p:sp>
      <p:sp>
        <p:nvSpPr>
          <p:cNvPr id="14515519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A5A3E37-5CAF-4B53-B5AD-ED3A5CFF03D4}" type="datetimeFigureOut">
              <a:rPr lang="en-GB"/>
              <a:t>15/01/2026</a:t>
            </a:fld>
            <a:endParaRPr lang="en-GB"/>
          </a:p>
        </p:txBody>
      </p:sp>
      <p:sp>
        <p:nvSpPr>
          <p:cNvPr id="125761529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78048491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6295227-B3AB-404D-8EC4-A0939454E341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2201128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GB"/>
              <a:t>Click to edit Master title style</a:t>
            </a:r>
            <a:endParaRPr/>
          </a:p>
        </p:txBody>
      </p:sp>
      <p:sp>
        <p:nvSpPr>
          <p:cNvPr id="163659329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GB"/>
              <a:t>Click to edit Master text styles</a:t>
            </a:r>
            <a:endParaRPr/>
          </a:p>
          <a:p>
            <a:pPr lvl="1">
              <a:defRPr/>
            </a:pPr>
            <a:r>
              <a:rPr lang="en-GB"/>
              <a:t>Second level</a:t>
            </a:r>
            <a:endParaRPr/>
          </a:p>
          <a:p>
            <a:pPr lvl="2">
              <a:defRPr/>
            </a:pPr>
            <a:r>
              <a:rPr lang="en-GB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/>
              <a:t>Fifth level</a:t>
            </a:r>
            <a:endParaRPr/>
          </a:p>
        </p:txBody>
      </p:sp>
      <p:sp>
        <p:nvSpPr>
          <p:cNvPr id="537789511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A5A3E37-5CAF-4B53-B5AD-ED3A5CFF03D4}" type="datetimeFigureOut">
              <a:rPr lang="en-GB"/>
              <a:t>15/01/2026</a:t>
            </a:fld>
            <a:endParaRPr lang="en-GB"/>
          </a:p>
        </p:txBody>
      </p:sp>
      <p:sp>
        <p:nvSpPr>
          <p:cNvPr id="647230945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564394804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6295227-B3AB-404D-8EC4-A0939454E341}" type="slidenum">
              <a:rPr lang="en-GB"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663237" name="Title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Assembly</a:t>
            </a:r>
            <a:endParaRPr/>
          </a:p>
        </p:txBody>
      </p:sp>
      <p:sp>
        <p:nvSpPr>
          <p:cNvPr id="1316772573" name="Subtitle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86393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28815111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413118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048109764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495286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graphicFrame>
        <p:nvGraphicFramePr>
          <p:cNvPr id="728032314" name="Content Placeholder 3"/>
          <p:cNvGraphicFramePr>
            <a:graphicFrameLocks xmlns:a="http://schemas.openxmlformats.org/drawingml/2006/main" noGrp="1"/>
          </p:cNvGraphicFramePr>
          <p:nvPr>
            <p:ph idx="1"/>
          </p:nvPr>
        </p:nvGraphicFramePr>
        <p:xfrm rot="0">
          <a:off x="825498" y="2087217"/>
          <a:ext cx="10528299" cy="3835972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3634409"/>
                <a:gridCol w="6881191"/>
              </a:tblGrid>
              <a:tr h="755374"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Rover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Primary Onboard Programming Languages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</a:tr>
              <a:tr h="755374">
                <a:tc>
                  <a:txBody>
                    <a:bodyPr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 b="0"/>
                        <a:t>Sojourner (1997)</a:t>
                      </a:r>
                      <a:endParaRPr sz="2000" b="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C &amp; low-level code (some assembly)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</a:tr>
              <a:tr h="755374">
                <a:tc>
                  <a:txBody>
                    <a:bodyPr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 b="0"/>
                        <a:t>Spirit &amp; Opportunity (2004)</a:t>
                      </a:r>
                      <a:endParaRPr sz="2000" b="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Mostly C (with some assembly/C++)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</a:tr>
              <a:tr h="755374">
                <a:tc>
                  <a:txBody>
                    <a:bodyPr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 b="0"/>
                        <a:t>Curiosity (2011)</a:t>
                      </a:r>
                      <a:endParaRPr sz="2000" b="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Mostly C (with some C++ and support scripts)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</a:tr>
              <a:tr h="755374">
                <a:tc>
                  <a:txBody>
                    <a:bodyPr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 b="0"/>
                        <a:t>Perseverance (2020)</a:t>
                      </a:r>
                      <a:endParaRPr sz="2000" b="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Mostly C/C++ (with automation languages like PLEXIL for specific subsystems)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22240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graphicFrame>
        <p:nvGraphicFramePr>
          <p:cNvPr id="1441637937" name="Content Placeholder 3"/>
          <p:cNvGraphicFramePr>
            <a:graphicFrameLocks xmlns:a="http://schemas.openxmlformats.org/drawingml/2006/main" noGrp="1"/>
          </p:cNvGraphicFramePr>
          <p:nvPr>
            <p:ph idx="1"/>
          </p:nvPr>
        </p:nvGraphicFramePr>
        <p:xfrm rot="0">
          <a:off x="838200" y="1878496"/>
          <a:ext cx="10515600" cy="4184375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1984513"/>
                <a:gridCol w="4750904"/>
                <a:gridCol w="3780183"/>
              </a:tblGrid>
              <a:tr h="462700">
                <a:tc>
                  <a:txBody>
                    <a:bodyPr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Category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Neuromorphic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Quantum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</a:tr>
              <a:tr h="424878">
                <a:tc>
                  <a:txBody>
                    <a:bodyPr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 b="0"/>
                        <a:t>Inspiration</a:t>
                      </a:r>
                      <a:endParaRPr sz="2000" b="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Human brain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Quantum physics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</a:tr>
              <a:tr h="424878">
                <a:tc>
                  <a:txBody>
                    <a:bodyPr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 b="0"/>
                        <a:t>Hardware</a:t>
                      </a:r>
                      <a:endParaRPr sz="2000" b="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Spiking neural chips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Qubits in cryogenic systems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</a:tr>
              <a:tr h="828288">
                <a:tc>
                  <a:txBody>
                    <a:bodyPr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 b="0"/>
                        <a:t>Strengths</a:t>
                      </a:r>
                      <a:endParaRPr sz="2000" b="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Low power, real-time learning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Huge theoretical computational power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</a:tr>
              <a:tr h="828288">
                <a:tc>
                  <a:txBody>
                    <a:bodyPr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 b="0"/>
                        <a:t>Weaknesses</a:t>
                      </a:r>
                      <a:endParaRPr sz="2000" b="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Not great at math-heavy computing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Error-prone, hard to scale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</a:tr>
              <a:tr h="424878">
                <a:tc>
                  <a:txBody>
                    <a:bodyPr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 b="0"/>
                        <a:t>Stage</a:t>
                      </a:r>
                      <a:endParaRPr sz="2000" b="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Early but working today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Prototype / research phase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</a:tr>
              <a:tr h="828288">
                <a:tc>
                  <a:txBody>
                    <a:bodyPr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 b="0"/>
                        <a:t>Best fit</a:t>
                      </a:r>
                      <a:endParaRPr sz="2000" b="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Edge AI, robotics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en-GB" sz="2400"/>
                        <a:t>Chemistry, optimization, cryptography</a:t>
                      </a:r>
                      <a:endParaRPr lang="en-GB" sz="2000"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9525" marR="9525" marT="9525" marB="9525" anchor="ctr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7114516" name="Text 0"/>
          <p:cNvSpPr/>
          <p:nvPr/>
        </p:nvSpPr>
        <p:spPr bwMode="auto">
          <a:xfrm>
            <a:off x="761999" y="507999"/>
            <a:ext cx="6204966" cy="507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99"/>
              </a:lnSpc>
              <a:spcAft>
                <a:spcPts val="1874"/>
              </a:spcAft>
              <a:buNone/>
              <a:defRPr/>
            </a:pPr>
            <a:r>
              <a:rPr lang="en-US" sz="2700" b="1">
                <a:solidFill>
                  <a:srgbClr val="1E3A8A"/>
                </a:solidFill>
                <a:latin typeface="Arial"/>
                <a:ea typeface="Arial"/>
                <a:cs typeface="Arial"/>
              </a:rPr>
              <a:t>Sistemas Embarcados e IoT</a:t>
            </a:r>
            <a:endParaRPr lang="en-US" sz="2700"/>
          </a:p>
        </p:txBody>
      </p:sp>
      <p:sp>
        <p:nvSpPr>
          <p:cNvPr id="894401745" name="Text 1"/>
          <p:cNvSpPr/>
          <p:nvPr/>
        </p:nvSpPr>
        <p:spPr bwMode="auto">
          <a:xfrm>
            <a:off x="761999" y="1523999"/>
            <a:ext cx="5246369" cy="365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9"/>
              </a:lnSpc>
              <a:spcBef>
                <a:spcPts val="1124"/>
              </a:spcBef>
              <a:spcAft>
                <a:spcPts val="749"/>
              </a:spcAft>
              <a:buNone/>
              <a:defRPr/>
            </a:pPr>
            <a:r>
              <a:rPr lang="en-US" sz="1800" b="1">
                <a:solidFill>
                  <a:srgbClr val="3B82F6"/>
                </a:solidFill>
                <a:latin typeface="Arial"/>
                <a:ea typeface="Arial"/>
                <a:cs typeface="Arial"/>
              </a:rPr>
              <a:t>Características</a:t>
            </a:r>
            <a:endParaRPr lang="en-US" sz="1800"/>
          </a:p>
        </p:txBody>
      </p:sp>
      <p:sp>
        <p:nvSpPr>
          <p:cNvPr id="1776598905" name="Text 2"/>
          <p:cNvSpPr/>
          <p:nvPr/>
        </p:nvSpPr>
        <p:spPr bwMode="auto">
          <a:xfrm>
            <a:off x="761999" y="2016720"/>
            <a:ext cx="5143500" cy="1625599"/>
          </a:xfrm>
          <a:prstGeom prst="rect">
            <a:avLst/>
          </a:prstGeom>
          <a:noFill/>
          <a:ln/>
        </p:spPr>
        <p:txBody>
          <a:bodyPr wrap="square" lIns="119062" tIns="0" rIns="0" bIns="0" rtlCol="0" anchor="t"/>
          <a:lstStyle/>
          <a:p>
            <a:pPr marL="119062" indent="-119062" algn="l">
              <a:lnSpc>
                <a:spcPts val="2099"/>
              </a:lnSpc>
              <a:spcAft>
                <a:spcPts val="449"/>
              </a:spcAft>
              <a:buSzPct val="100000"/>
              <a:buChar char="•"/>
              <a:defRPr/>
            </a:pPr>
            <a:r>
              <a:rPr lang="en-US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Recursos muito limitados</a:t>
            </a:r>
            <a:endParaRPr lang="en-US" sz="1350"/>
          </a:p>
          <a:p>
            <a:pPr marL="119062" indent="-119062" algn="l">
              <a:lnSpc>
                <a:spcPts val="2099"/>
              </a:lnSpc>
              <a:spcAft>
                <a:spcPts val="449"/>
              </a:spcAft>
              <a:buSzPct val="100000"/>
              <a:buChar char="•"/>
              <a:defRPr/>
            </a:pPr>
            <a:r>
              <a:rPr lang="en-US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Processadores baixa frequência</a:t>
            </a:r>
            <a:endParaRPr lang="en-US" sz="1350"/>
          </a:p>
          <a:p>
            <a:pPr marL="119062" indent="-119062" algn="l">
              <a:lnSpc>
                <a:spcPts val="2099"/>
              </a:lnSpc>
              <a:spcAft>
                <a:spcPts val="449"/>
              </a:spcAft>
              <a:buSzPct val="100000"/>
              <a:buChar char="•"/>
              <a:defRPr/>
            </a:pPr>
            <a:r>
              <a:rPr lang="en-US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Cada ciclo é crítico</a:t>
            </a:r>
            <a:endParaRPr lang="en-US" sz="1350"/>
          </a:p>
        </p:txBody>
      </p:sp>
      <p:sp>
        <p:nvSpPr>
          <p:cNvPr id="1873728305" name="Text 3"/>
          <p:cNvSpPr/>
          <p:nvPr/>
        </p:nvSpPr>
        <p:spPr bwMode="auto">
          <a:xfrm>
            <a:off x="6286500" y="1523999"/>
            <a:ext cx="5246369" cy="365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9"/>
              </a:lnSpc>
              <a:spcBef>
                <a:spcPts val="1124"/>
              </a:spcBef>
              <a:spcAft>
                <a:spcPts val="749"/>
              </a:spcAft>
              <a:buNone/>
              <a:defRPr/>
            </a:pPr>
            <a:r>
              <a:rPr lang="en-US" sz="1800" b="1">
                <a:solidFill>
                  <a:srgbClr val="3B82F6"/>
                </a:solidFill>
                <a:latin typeface="Arial"/>
                <a:ea typeface="Arial"/>
                <a:cs typeface="Arial"/>
              </a:rPr>
              <a:t>Vantagens Assembly</a:t>
            </a:r>
            <a:endParaRPr lang="en-US" sz="1800"/>
          </a:p>
        </p:txBody>
      </p:sp>
      <p:sp>
        <p:nvSpPr>
          <p:cNvPr id="595036133" name="Text 4"/>
          <p:cNvSpPr/>
          <p:nvPr/>
        </p:nvSpPr>
        <p:spPr bwMode="auto">
          <a:xfrm>
            <a:off x="6286500" y="2016720"/>
            <a:ext cx="5143500" cy="1625599"/>
          </a:xfrm>
          <a:prstGeom prst="rect">
            <a:avLst/>
          </a:prstGeom>
          <a:noFill/>
          <a:ln/>
        </p:spPr>
        <p:txBody>
          <a:bodyPr wrap="square" lIns="119062" tIns="0" rIns="0" bIns="0" rtlCol="0" anchor="t"/>
          <a:lstStyle/>
          <a:p>
            <a:pPr marL="119062" indent="-119062" algn="l">
              <a:lnSpc>
                <a:spcPts val="2099"/>
              </a:lnSpc>
              <a:spcAft>
                <a:spcPts val="449"/>
              </a:spcAft>
              <a:buSzPct val="100000"/>
              <a:buChar char="•"/>
              <a:defRPr/>
            </a:pPr>
            <a:r>
              <a:rPr lang="en-US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Eficiência máxima</a:t>
            </a:r>
            <a:endParaRPr lang="en-US" sz="1350"/>
          </a:p>
          <a:p>
            <a:pPr marL="119062" indent="-119062" algn="l">
              <a:lnSpc>
                <a:spcPts val="2099"/>
              </a:lnSpc>
              <a:spcAft>
                <a:spcPts val="449"/>
              </a:spcAft>
              <a:buSzPct val="100000"/>
              <a:buChar char="•"/>
              <a:defRPr/>
            </a:pPr>
            <a:r>
              <a:rPr lang="en-US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Resposta previsível</a:t>
            </a:r>
            <a:endParaRPr lang="en-US" sz="1350"/>
          </a:p>
          <a:p>
            <a:pPr marL="119062" indent="-119062" algn="l">
              <a:lnSpc>
                <a:spcPts val="2099"/>
              </a:lnSpc>
              <a:spcAft>
                <a:spcPts val="449"/>
              </a:spcAft>
              <a:buSzPct val="100000"/>
              <a:buChar char="•"/>
              <a:defRPr/>
            </a:pPr>
            <a:r>
              <a:rPr lang="en-US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Controlo preciso</a:t>
            </a:r>
            <a:endParaRPr lang="en-US" sz="1350"/>
          </a:p>
        </p:txBody>
      </p:sp>
      <p:sp>
        <p:nvSpPr>
          <p:cNvPr id="35123317" name="Text 5"/>
          <p:cNvSpPr/>
          <p:nvPr/>
        </p:nvSpPr>
        <p:spPr bwMode="auto">
          <a:xfrm>
            <a:off x="761999" y="3896319"/>
            <a:ext cx="10667999" cy="665361"/>
          </a:xfrm>
          <a:prstGeom prst="roundRect">
            <a:avLst>
              <a:gd name="adj" fmla="val 11452"/>
            </a:avLst>
          </a:prstGeom>
          <a:solidFill>
            <a:srgbClr val="60A5FA"/>
          </a:solidFill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/>
          </a:p>
        </p:txBody>
      </p:sp>
      <p:sp>
        <p:nvSpPr>
          <p:cNvPr id="1103830953" name="Text 6"/>
          <p:cNvSpPr/>
          <p:nvPr/>
        </p:nvSpPr>
        <p:spPr bwMode="auto">
          <a:xfrm>
            <a:off x="952499" y="4086819"/>
            <a:ext cx="10492740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79"/>
              </a:lnSpc>
              <a:buNone/>
              <a:defRPr/>
            </a:pPr>
            <a:r>
              <a:rPr lang="en-US" sz="1200">
                <a:solidFill>
                  <a:srgbClr val="FFFFFF"/>
                </a:solidFill>
                <a:latin typeface="Arial"/>
                <a:ea typeface="Arial"/>
                <a:cs typeface="Arial"/>
              </a:rPr>
              <a:t>ARM AS domina este sector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5361266" name="Text 0"/>
          <p:cNvSpPr/>
          <p:nvPr/>
        </p:nvSpPr>
        <p:spPr bwMode="auto">
          <a:xfrm>
            <a:off x="761999" y="507999"/>
            <a:ext cx="7111746" cy="507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99"/>
              </a:lnSpc>
              <a:spcAft>
                <a:spcPts val="1874"/>
              </a:spcAft>
              <a:buNone/>
              <a:defRPr/>
            </a:pPr>
            <a:r>
              <a:rPr lang="en-US" sz="2700" b="1">
                <a:solidFill>
                  <a:srgbClr val="1E3A8A"/>
                </a:solidFill>
                <a:latin typeface="Arial"/>
                <a:ea typeface="Arial"/>
                <a:cs typeface="Arial"/>
              </a:rPr>
              <a:t>Sistemas Críticos de Segurança</a:t>
            </a:r>
            <a:endParaRPr lang="en-US" sz="2700"/>
          </a:p>
        </p:txBody>
      </p:sp>
      <p:sp>
        <p:nvSpPr>
          <p:cNvPr id="1892468088" name="Text 1"/>
          <p:cNvSpPr/>
          <p:nvPr/>
        </p:nvSpPr>
        <p:spPr bwMode="auto">
          <a:xfrm>
            <a:off x="761999" y="1333499"/>
            <a:ext cx="10881360" cy="365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9"/>
              </a:lnSpc>
              <a:spcBef>
                <a:spcPts val="1124"/>
              </a:spcBef>
              <a:spcAft>
                <a:spcPts val="749"/>
              </a:spcAft>
              <a:buNone/>
              <a:defRPr/>
            </a:pPr>
            <a:r>
              <a:rPr lang="en-US" sz="1800" b="1">
                <a:solidFill>
                  <a:srgbClr val="3B82F6"/>
                </a:solidFill>
                <a:latin typeface="Arial"/>
                <a:ea typeface="Arial"/>
                <a:cs typeface="Arial"/>
              </a:rPr>
              <a:t>Sectores de Aplicação</a:t>
            </a:r>
            <a:endParaRPr lang="en-US" sz="1800"/>
          </a:p>
        </p:txBody>
      </p:sp>
      <p:sp>
        <p:nvSpPr>
          <p:cNvPr id="1520901512" name="Text 2"/>
          <p:cNvSpPr/>
          <p:nvPr/>
        </p:nvSpPr>
        <p:spPr bwMode="auto">
          <a:xfrm>
            <a:off x="761999" y="1826219"/>
            <a:ext cx="10667999" cy="2184399"/>
          </a:xfrm>
          <a:prstGeom prst="rect">
            <a:avLst/>
          </a:prstGeom>
          <a:noFill/>
          <a:ln/>
        </p:spPr>
        <p:txBody>
          <a:bodyPr wrap="square" lIns="119062" tIns="0" rIns="0" bIns="0" rtlCol="0" anchor="t"/>
          <a:lstStyle/>
          <a:p>
            <a:pPr marL="0" indent="0" algn="l">
              <a:lnSpc>
                <a:spcPts val="2099"/>
              </a:lnSpc>
              <a:spcAft>
                <a:spcPts val="449"/>
              </a:spcAft>
              <a:buNone/>
              <a:defRPr/>
            </a:pPr>
            <a:r>
              <a:rPr lang="en-US" sz="1350" b="1">
                <a:solidFill>
                  <a:srgbClr val="334155"/>
                </a:solidFill>
                <a:latin typeface="Arial"/>
                <a:ea typeface="Arial"/>
                <a:cs typeface="Arial"/>
              </a:rPr>
              <a:t>Aviação</a:t>
            </a:r>
            <a:r>
              <a:rPr lang="en-US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: Sistemas de controlo de voo (DO-178C)</a:t>
            </a:r>
            <a:endParaRPr lang="en-US" sz="1350"/>
          </a:p>
          <a:p>
            <a:pPr marL="0" indent="0" algn="l">
              <a:lnSpc>
                <a:spcPts val="2099"/>
              </a:lnSpc>
              <a:spcAft>
                <a:spcPts val="449"/>
              </a:spcAft>
              <a:buNone/>
              <a:defRPr/>
            </a:pPr>
            <a:r>
              <a:rPr lang="en-US" sz="1350" b="1">
                <a:solidFill>
                  <a:srgbClr val="334155"/>
                </a:solidFill>
                <a:latin typeface="Arial"/>
                <a:ea typeface="Arial"/>
                <a:cs typeface="Arial"/>
              </a:rPr>
              <a:t>Energia Nuclear</a:t>
            </a:r>
            <a:r>
              <a:rPr lang="en-US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: Controlo e segurança</a:t>
            </a:r>
            <a:endParaRPr lang="en-US" sz="1350"/>
          </a:p>
          <a:p>
            <a:pPr marL="0" indent="0" algn="l">
              <a:lnSpc>
                <a:spcPts val="2099"/>
              </a:lnSpc>
              <a:spcAft>
                <a:spcPts val="449"/>
              </a:spcAft>
              <a:buNone/>
              <a:defRPr/>
            </a:pPr>
            <a:r>
              <a:rPr lang="en-US" sz="1350" b="1">
                <a:solidFill>
                  <a:srgbClr val="334155"/>
                </a:solidFill>
                <a:latin typeface="Arial"/>
                <a:ea typeface="Arial"/>
                <a:cs typeface="Arial"/>
              </a:rPr>
              <a:t>Dispositivos Médicos</a:t>
            </a:r>
            <a:r>
              <a:rPr lang="en-US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: Pacemakers (IEC 62304)</a:t>
            </a:r>
            <a:endParaRPr lang="en-US" sz="1350"/>
          </a:p>
          <a:p>
            <a:pPr marL="0" indent="0" algn="l">
              <a:lnSpc>
                <a:spcPts val="2099"/>
              </a:lnSpc>
              <a:spcAft>
                <a:spcPts val="449"/>
              </a:spcAft>
              <a:buNone/>
              <a:defRPr/>
            </a:pPr>
            <a:r>
              <a:rPr lang="en-US" sz="1350" b="1">
                <a:solidFill>
                  <a:srgbClr val="334155"/>
                </a:solidFill>
                <a:latin typeface="Arial"/>
                <a:ea typeface="Arial"/>
                <a:cs typeface="Arial"/>
              </a:rPr>
              <a:t>Automóvel</a:t>
            </a:r>
            <a:r>
              <a:rPr lang="en-US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: Sistemas de travagem</a:t>
            </a:r>
            <a:endParaRPr lang="en-US" sz="1350"/>
          </a:p>
        </p:txBody>
      </p:sp>
      <p:sp>
        <p:nvSpPr>
          <p:cNvPr id="739380826" name="Text 3"/>
          <p:cNvSpPr/>
          <p:nvPr/>
        </p:nvSpPr>
        <p:spPr bwMode="auto">
          <a:xfrm>
            <a:off x="761999" y="4163019"/>
            <a:ext cx="10667999" cy="665361"/>
          </a:xfrm>
          <a:prstGeom prst="roundRect">
            <a:avLst>
              <a:gd name="adj" fmla="val 11452"/>
            </a:avLst>
          </a:prstGeom>
          <a:solidFill>
            <a:srgbClr val="60A5FA"/>
          </a:solidFill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/>
          </a:p>
        </p:txBody>
      </p:sp>
      <p:sp>
        <p:nvSpPr>
          <p:cNvPr id="2106612144" name="Text 4"/>
          <p:cNvSpPr/>
          <p:nvPr/>
        </p:nvSpPr>
        <p:spPr bwMode="auto">
          <a:xfrm>
            <a:off x="952499" y="4353519"/>
            <a:ext cx="10492740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79"/>
              </a:lnSpc>
              <a:buNone/>
              <a:defRPr/>
            </a:pPr>
            <a:r>
              <a:rPr lang="en-US" sz="1200">
                <a:solidFill>
                  <a:srgbClr val="FFFFFF"/>
                </a:solidFill>
                <a:latin typeface="Arial"/>
                <a:ea typeface="Arial"/>
                <a:cs typeface="Arial"/>
              </a:rPr>
              <a:t>MASM e GAS em sistemas críticos certificados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0514657" name="Text 0"/>
          <p:cNvSpPr/>
          <p:nvPr/>
        </p:nvSpPr>
        <p:spPr bwMode="auto">
          <a:xfrm>
            <a:off x="761999" y="507999"/>
            <a:ext cx="5557266" cy="507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99"/>
              </a:lnSpc>
              <a:spcAft>
                <a:spcPts val="1874"/>
              </a:spcAft>
              <a:buNone/>
              <a:defRPr/>
            </a:pPr>
            <a:r>
              <a:rPr lang="en-US" sz="2700" b="1">
                <a:solidFill>
                  <a:srgbClr val="1E3A8A"/>
                </a:solidFill>
                <a:latin typeface="Arial"/>
                <a:ea typeface="Arial"/>
                <a:cs typeface="Arial"/>
              </a:rPr>
              <a:t>Criptografia e Segurança</a:t>
            </a:r>
            <a:endParaRPr lang="en-US" sz="2700"/>
          </a:p>
        </p:txBody>
      </p:sp>
      <p:sp>
        <p:nvSpPr>
          <p:cNvPr id="1188308519" name="Text 1"/>
          <p:cNvSpPr/>
          <p:nvPr/>
        </p:nvSpPr>
        <p:spPr bwMode="auto">
          <a:xfrm>
            <a:off x="761999" y="1523999"/>
            <a:ext cx="5246369" cy="365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9"/>
              </a:lnSpc>
              <a:spcBef>
                <a:spcPts val="1124"/>
              </a:spcBef>
              <a:spcAft>
                <a:spcPts val="749"/>
              </a:spcAft>
              <a:buNone/>
              <a:defRPr/>
            </a:pPr>
            <a:r>
              <a:rPr lang="en-US" sz="1800" b="1">
                <a:solidFill>
                  <a:srgbClr val="3B82F6"/>
                </a:solidFill>
                <a:latin typeface="Arial"/>
                <a:ea typeface="Arial"/>
                <a:cs typeface="Arial"/>
              </a:rPr>
              <a:t>Ataques Auxiliares</a:t>
            </a:r>
            <a:endParaRPr lang="en-US" sz="1800"/>
          </a:p>
        </p:txBody>
      </p:sp>
      <p:sp>
        <p:nvSpPr>
          <p:cNvPr id="1322362774" name="Text 2"/>
          <p:cNvSpPr/>
          <p:nvPr/>
        </p:nvSpPr>
        <p:spPr bwMode="auto">
          <a:xfrm>
            <a:off x="761999" y="2016720"/>
            <a:ext cx="5143500" cy="1625599"/>
          </a:xfrm>
          <a:prstGeom prst="rect">
            <a:avLst/>
          </a:prstGeom>
          <a:noFill/>
          <a:ln/>
        </p:spPr>
        <p:txBody>
          <a:bodyPr wrap="square" lIns="119062" tIns="0" rIns="0" bIns="0" rtlCol="0" anchor="t"/>
          <a:lstStyle/>
          <a:p>
            <a:pPr marL="119062" indent="-119062" algn="l">
              <a:lnSpc>
                <a:spcPts val="2099"/>
              </a:lnSpc>
              <a:spcAft>
                <a:spcPts val="449"/>
              </a:spcAft>
              <a:buSzPct val="100000"/>
              <a:buChar char="•"/>
              <a:defRPr/>
            </a:pPr>
            <a:r>
              <a:rPr lang="en-US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Timing attacks</a:t>
            </a:r>
            <a:endParaRPr lang="en-US" sz="1350"/>
          </a:p>
          <a:p>
            <a:pPr marL="119062" indent="-119062" algn="l">
              <a:lnSpc>
                <a:spcPts val="2099"/>
              </a:lnSpc>
              <a:spcAft>
                <a:spcPts val="449"/>
              </a:spcAft>
              <a:buSzPct val="100000"/>
              <a:buChar char="•"/>
              <a:defRPr/>
            </a:pPr>
            <a:r>
              <a:rPr lang="en-US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Cache-timing attacks</a:t>
            </a:r>
            <a:endParaRPr lang="en-US" sz="1350"/>
          </a:p>
          <a:p>
            <a:pPr marL="119062" indent="-119062" algn="l">
              <a:lnSpc>
                <a:spcPts val="2099"/>
              </a:lnSpc>
              <a:spcAft>
                <a:spcPts val="449"/>
              </a:spcAft>
              <a:buSzPct val="100000"/>
              <a:buChar char="•"/>
              <a:defRPr/>
            </a:pPr>
            <a:r>
              <a:rPr lang="en-US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Exploram tempo de execução</a:t>
            </a:r>
            <a:endParaRPr lang="en-US" sz="1350"/>
          </a:p>
        </p:txBody>
      </p:sp>
      <p:sp>
        <p:nvSpPr>
          <p:cNvPr id="719076157" name="Text 3"/>
          <p:cNvSpPr/>
          <p:nvPr/>
        </p:nvSpPr>
        <p:spPr bwMode="auto">
          <a:xfrm>
            <a:off x="761999" y="3832819"/>
            <a:ext cx="5246369" cy="365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9"/>
              </a:lnSpc>
              <a:spcBef>
                <a:spcPts val="1124"/>
              </a:spcBef>
              <a:spcAft>
                <a:spcPts val="749"/>
              </a:spcAft>
              <a:buNone/>
              <a:defRPr/>
            </a:pPr>
            <a:r>
              <a:rPr lang="en-US" sz="1800" b="1">
                <a:solidFill>
                  <a:srgbClr val="3B82F6"/>
                </a:solidFill>
                <a:latin typeface="Arial"/>
                <a:ea typeface="Arial"/>
                <a:cs typeface="Arial"/>
              </a:rPr>
              <a:t>Solução</a:t>
            </a:r>
            <a:endParaRPr lang="en-US" sz="1800"/>
          </a:p>
        </p:txBody>
      </p:sp>
      <p:sp>
        <p:nvSpPr>
          <p:cNvPr id="1751056809" name="Text 4"/>
          <p:cNvSpPr/>
          <p:nvPr/>
        </p:nvSpPr>
        <p:spPr bwMode="auto">
          <a:xfrm>
            <a:off x="761999" y="4325539"/>
            <a:ext cx="5143500" cy="507999"/>
          </a:xfrm>
          <a:prstGeom prst="rect">
            <a:avLst/>
          </a:prstGeom>
          <a:noFill/>
          <a:ln/>
        </p:spPr>
        <p:txBody>
          <a:bodyPr wrap="square" lIns="119062" tIns="0" rIns="0" bIns="0" rtlCol="0" anchor="t"/>
          <a:lstStyle/>
          <a:p>
            <a:pPr marL="119062" indent="-119062" algn="l">
              <a:lnSpc>
                <a:spcPts val="2099"/>
              </a:lnSpc>
              <a:spcAft>
                <a:spcPts val="449"/>
              </a:spcAft>
              <a:buSzPct val="100000"/>
              <a:buChar char="•"/>
              <a:defRPr/>
            </a:pPr>
            <a:r>
              <a:rPr lang="en-US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Código constant-time</a:t>
            </a:r>
            <a:endParaRPr lang="en-US" sz="1350"/>
          </a:p>
        </p:txBody>
      </p:sp>
      <p:sp>
        <p:nvSpPr>
          <p:cNvPr id="1262100755" name="Text 5"/>
          <p:cNvSpPr/>
          <p:nvPr/>
        </p:nvSpPr>
        <p:spPr bwMode="auto">
          <a:xfrm>
            <a:off x="6286500" y="1523999"/>
            <a:ext cx="5246369" cy="365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9"/>
              </a:lnSpc>
              <a:spcBef>
                <a:spcPts val="1124"/>
              </a:spcBef>
              <a:spcAft>
                <a:spcPts val="749"/>
              </a:spcAft>
              <a:buNone/>
              <a:defRPr/>
            </a:pPr>
            <a:r>
              <a:rPr lang="en-US" sz="1800" b="1">
                <a:solidFill>
                  <a:srgbClr val="3B82F6"/>
                </a:solidFill>
                <a:latin typeface="Arial"/>
                <a:ea typeface="Arial"/>
                <a:cs typeface="Arial"/>
              </a:rPr>
              <a:t>Bibliotecas</a:t>
            </a:r>
            <a:endParaRPr lang="en-US" sz="1800"/>
          </a:p>
        </p:txBody>
      </p:sp>
      <p:sp>
        <p:nvSpPr>
          <p:cNvPr id="1052394248" name="Text 6"/>
          <p:cNvSpPr/>
          <p:nvPr/>
        </p:nvSpPr>
        <p:spPr bwMode="auto">
          <a:xfrm>
            <a:off x="6286500" y="2016720"/>
            <a:ext cx="5143500" cy="1625599"/>
          </a:xfrm>
          <a:prstGeom prst="rect">
            <a:avLst/>
          </a:prstGeom>
          <a:noFill/>
          <a:ln/>
        </p:spPr>
        <p:txBody>
          <a:bodyPr wrap="square" lIns="119062" tIns="0" rIns="0" bIns="0" rtlCol="0" anchor="t"/>
          <a:lstStyle/>
          <a:p>
            <a:pPr marL="119062" indent="-119062" algn="l">
              <a:lnSpc>
                <a:spcPts val="2099"/>
              </a:lnSpc>
              <a:spcAft>
                <a:spcPts val="449"/>
              </a:spcAft>
              <a:buSzPct val="100000"/>
              <a:buChar char="•"/>
              <a:defRPr/>
            </a:pPr>
            <a:r>
              <a:rPr lang="en-US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OpenSSL</a:t>
            </a:r>
            <a:endParaRPr lang="en-US" sz="1350"/>
          </a:p>
          <a:p>
            <a:pPr marL="119062" indent="-119062" algn="l">
              <a:lnSpc>
                <a:spcPts val="2099"/>
              </a:lnSpc>
              <a:spcAft>
                <a:spcPts val="449"/>
              </a:spcAft>
              <a:buSzPct val="100000"/>
              <a:buChar char="•"/>
              <a:defRPr/>
            </a:pPr>
            <a:r>
              <a:rPr lang="en-US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libsodium</a:t>
            </a:r>
            <a:endParaRPr lang="en-US" sz="1350"/>
          </a:p>
          <a:p>
            <a:pPr marL="119062" indent="-119062" algn="l">
              <a:lnSpc>
                <a:spcPts val="2099"/>
              </a:lnSpc>
              <a:spcAft>
                <a:spcPts val="449"/>
              </a:spcAft>
              <a:buSzPct val="100000"/>
              <a:buChar char="•"/>
              <a:defRPr/>
            </a:pPr>
            <a:r>
              <a:rPr lang="en-US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Rotinas críticas em Assembly</a:t>
            </a:r>
            <a:endParaRPr lang="en-US" sz="1350"/>
          </a:p>
        </p:txBody>
      </p:sp>
      <p:sp>
        <p:nvSpPr>
          <p:cNvPr id="2018259826" name="Text 7"/>
          <p:cNvSpPr/>
          <p:nvPr/>
        </p:nvSpPr>
        <p:spPr bwMode="auto">
          <a:xfrm>
            <a:off x="761999" y="5087539"/>
            <a:ext cx="10667999" cy="665361"/>
          </a:xfrm>
          <a:prstGeom prst="roundRect">
            <a:avLst>
              <a:gd name="adj" fmla="val 11452"/>
            </a:avLst>
          </a:prstGeom>
          <a:solidFill>
            <a:srgbClr val="60A5FA"/>
          </a:solidFill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/>
          </a:p>
        </p:txBody>
      </p:sp>
      <p:sp>
        <p:nvSpPr>
          <p:cNvPr id="540709825" name="Text 8"/>
          <p:cNvSpPr/>
          <p:nvPr/>
        </p:nvSpPr>
        <p:spPr bwMode="auto">
          <a:xfrm>
            <a:off x="952499" y="5278039"/>
            <a:ext cx="10492740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79"/>
              </a:lnSpc>
              <a:buNone/>
              <a:defRPr/>
            </a:pPr>
            <a:r>
              <a:rPr lang="en-US" sz="1200">
                <a:solidFill>
                  <a:srgbClr val="FFFFFF"/>
                </a:solidFill>
                <a:latin typeface="Arial"/>
                <a:ea typeface="Arial"/>
                <a:cs typeface="Arial"/>
              </a:rPr>
              <a:t>NASM, GAS e MASM em criptografia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7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9335233" name="Text 0"/>
          <p:cNvSpPr/>
          <p:nvPr/>
        </p:nvSpPr>
        <p:spPr bwMode="auto">
          <a:xfrm>
            <a:off x="761999" y="507999"/>
            <a:ext cx="7189470" cy="507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99"/>
              </a:lnSpc>
              <a:spcAft>
                <a:spcPts val="1874"/>
              </a:spcAft>
              <a:buNone/>
              <a:defRPr/>
            </a:pPr>
            <a:r>
              <a:rPr lang="en-US" sz="2700" b="1">
                <a:solidFill>
                  <a:srgbClr val="1E3A8A"/>
                </a:solidFill>
                <a:latin typeface="Arial"/>
                <a:ea typeface="Arial"/>
                <a:cs typeface="Arial"/>
              </a:rPr>
              <a:t>Drivers, Firmware e Bootloaders</a:t>
            </a:r>
            <a:endParaRPr lang="en-US" sz="2700"/>
          </a:p>
        </p:txBody>
      </p:sp>
      <p:sp>
        <p:nvSpPr>
          <p:cNvPr id="1404862370" name="Text 1"/>
          <p:cNvSpPr/>
          <p:nvPr/>
        </p:nvSpPr>
        <p:spPr bwMode="auto">
          <a:xfrm>
            <a:off x="761999" y="1333499"/>
            <a:ext cx="10881360" cy="365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9"/>
              </a:lnSpc>
              <a:spcBef>
                <a:spcPts val="1124"/>
              </a:spcBef>
              <a:spcAft>
                <a:spcPts val="749"/>
              </a:spcAft>
              <a:buNone/>
              <a:defRPr/>
            </a:pPr>
            <a:r>
              <a:rPr lang="en-US" sz="1800" b="1">
                <a:solidFill>
                  <a:srgbClr val="3B82F6"/>
                </a:solidFill>
                <a:latin typeface="Arial"/>
                <a:ea typeface="Arial"/>
                <a:cs typeface="Arial"/>
              </a:rPr>
              <a:t>Componentes de Sistema</a:t>
            </a:r>
            <a:endParaRPr lang="en-US" sz="1800"/>
          </a:p>
        </p:txBody>
      </p:sp>
      <p:sp>
        <p:nvSpPr>
          <p:cNvPr id="460125340" name="Text 2"/>
          <p:cNvSpPr/>
          <p:nvPr/>
        </p:nvSpPr>
        <p:spPr bwMode="auto">
          <a:xfrm>
            <a:off x="761999" y="1826219"/>
            <a:ext cx="10667999" cy="1625599"/>
          </a:xfrm>
          <a:prstGeom prst="rect">
            <a:avLst/>
          </a:prstGeom>
          <a:noFill/>
          <a:ln/>
        </p:spPr>
        <p:txBody>
          <a:bodyPr wrap="square" lIns="119062" tIns="0" rIns="0" bIns="0" rtlCol="0" anchor="t"/>
          <a:lstStyle/>
          <a:p>
            <a:pPr marL="0" indent="0" algn="l">
              <a:lnSpc>
                <a:spcPts val="2099"/>
              </a:lnSpc>
              <a:spcAft>
                <a:spcPts val="449"/>
              </a:spcAft>
              <a:buNone/>
              <a:defRPr/>
            </a:pPr>
            <a:r>
              <a:rPr lang="en-US" sz="1350" b="1">
                <a:solidFill>
                  <a:srgbClr val="334155"/>
                </a:solidFill>
                <a:latin typeface="Arial"/>
                <a:ea typeface="Arial"/>
                <a:cs typeface="Arial"/>
              </a:rPr>
              <a:t>Drivers</a:t>
            </a:r>
            <a:r>
              <a:rPr lang="en-US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: Interface hardware ↔ SO</a:t>
            </a:r>
            <a:endParaRPr lang="en-US" sz="1350"/>
          </a:p>
          <a:p>
            <a:pPr marL="0" indent="0" algn="l">
              <a:lnSpc>
                <a:spcPts val="2099"/>
              </a:lnSpc>
              <a:spcAft>
                <a:spcPts val="449"/>
              </a:spcAft>
              <a:buNone/>
              <a:defRPr/>
            </a:pPr>
            <a:r>
              <a:rPr lang="en-US" sz="1350" b="1">
                <a:solidFill>
                  <a:srgbClr val="334155"/>
                </a:solidFill>
                <a:latin typeface="Arial"/>
                <a:ea typeface="Arial"/>
                <a:cs typeface="Arial"/>
              </a:rPr>
              <a:t>Firmware</a:t>
            </a:r>
            <a:r>
              <a:rPr lang="en-US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: Software embebido</a:t>
            </a:r>
            <a:endParaRPr lang="en-US" sz="1350"/>
          </a:p>
          <a:p>
            <a:pPr marL="0" indent="0" algn="l">
              <a:lnSpc>
                <a:spcPts val="2099"/>
              </a:lnSpc>
              <a:spcAft>
                <a:spcPts val="449"/>
              </a:spcAft>
              <a:buNone/>
              <a:defRPr/>
            </a:pPr>
            <a:r>
              <a:rPr lang="en-US" sz="1350" b="1">
                <a:solidFill>
                  <a:srgbClr val="334155"/>
                </a:solidFill>
                <a:latin typeface="Arial"/>
                <a:ea typeface="Arial"/>
                <a:cs typeface="Arial"/>
              </a:rPr>
              <a:t>Bootloaders</a:t>
            </a:r>
            <a:r>
              <a:rPr lang="en-US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: Inicialização antes do SO</a:t>
            </a:r>
            <a:endParaRPr lang="en-US" sz="1350"/>
          </a:p>
        </p:txBody>
      </p:sp>
      <p:sp>
        <p:nvSpPr>
          <p:cNvPr id="596940829" name="Text 3"/>
          <p:cNvSpPr/>
          <p:nvPr/>
        </p:nvSpPr>
        <p:spPr bwMode="auto">
          <a:xfrm>
            <a:off x="761999" y="3604219"/>
            <a:ext cx="10667999" cy="665361"/>
          </a:xfrm>
          <a:prstGeom prst="roundRect">
            <a:avLst>
              <a:gd name="adj" fmla="val 11452"/>
            </a:avLst>
          </a:prstGeom>
          <a:solidFill>
            <a:srgbClr val="60A5FA"/>
          </a:solidFill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/>
          </a:p>
        </p:txBody>
      </p:sp>
      <p:sp>
        <p:nvSpPr>
          <p:cNvPr id="777115626" name="Text 4"/>
          <p:cNvSpPr/>
          <p:nvPr/>
        </p:nvSpPr>
        <p:spPr bwMode="auto">
          <a:xfrm>
            <a:off x="952499" y="3794719"/>
            <a:ext cx="10492740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79"/>
              </a:lnSpc>
              <a:buNone/>
              <a:defRPr/>
            </a:pPr>
            <a:r>
              <a:rPr lang="en-US" sz="1200">
                <a:solidFill>
                  <a:srgbClr val="FFFFFF"/>
                </a:solidFill>
                <a:latin typeface="Arial"/>
                <a:ea typeface="Arial"/>
                <a:cs typeface="Arial"/>
              </a:rPr>
              <a:t>GAS domina em Linux, MASM em Windows</a:t>
            </a:r>
            <a:endParaRPr lang="en-US" sz="1200"/>
          </a:p>
        </p:txBody>
      </p:sp>
      <p:sp>
        <p:nvSpPr>
          <p:cNvPr id="1052281865" name="Text 5"/>
          <p:cNvSpPr/>
          <p:nvPr/>
        </p:nvSpPr>
        <p:spPr bwMode="auto">
          <a:xfrm>
            <a:off x="761999" y="4460081"/>
            <a:ext cx="10881360" cy="365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9"/>
              </a:lnSpc>
              <a:spcBef>
                <a:spcPts val="1124"/>
              </a:spcBef>
              <a:spcAft>
                <a:spcPts val="749"/>
              </a:spcAft>
              <a:buNone/>
              <a:defRPr/>
            </a:pPr>
            <a:r>
              <a:rPr lang="en-US" sz="1800" b="1">
                <a:solidFill>
                  <a:srgbClr val="3B82F6"/>
                </a:solidFill>
                <a:latin typeface="Arial"/>
                <a:ea typeface="Arial"/>
                <a:cs typeface="Arial"/>
              </a:rPr>
              <a:t>Requisitos</a:t>
            </a:r>
            <a:endParaRPr lang="en-US" sz="1800"/>
          </a:p>
        </p:txBody>
      </p:sp>
      <p:sp>
        <p:nvSpPr>
          <p:cNvPr id="1315967574" name="Text 6"/>
          <p:cNvSpPr/>
          <p:nvPr/>
        </p:nvSpPr>
        <p:spPr bwMode="auto">
          <a:xfrm>
            <a:off x="761999" y="4952801"/>
            <a:ext cx="10667999" cy="1066799"/>
          </a:xfrm>
          <a:prstGeom prst="rect">
            <a:avLst/>
          </a:prstGeom>
          <a:noFill/>
          <a:ln/>
        </p:spPr>
        <p:txBody>
          <a:bodyPr wrap="square" lIns="119062" tIns="0" rIns="0" bIns="0" rtlCol="0" anchor="t"/>
          <a:lstStyle/>
          <a:p>
            <a:pPr marL="119062" indent="-119062" algn="l">
              <a:lnSpc>
                <a:spcPts val="2099"/>
              </a:lnSpc>
              <a:spcAft>
                <a:spcPts val="449"/>
              </a:spcAft>
              <a:buSzPct val="100000"/>
              <a:buChar char="•"/>
              <a:defRPr/>
            </a:pPr>
            <a:r>
              <a:rPr lang="en-US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Acesso directo a instruções do CPU</a:t>
            </a:r>
            <a:endParaRPr lang="en-US" sz="1350"/>
          </a:p>
          <a:p>
            <a:pPr marL="119062" indent="-119062" algn="l">
              <a:lnSpc>
                <a:spcPts val="2099"/>
              </a:lnSpc>
              <a:spcAft>
                <a:spcPts val="449"/>
              </a:spcAft>
              <a:buSzPct val="100000"/>
              <a:buChar char="•"/>
              <a:defRPr/>
            </a:pPr>
            <a:r>
              <a:rPr lang="en-US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Gestão de interrupções ao nível do hardware</a:t>
            </a:r>
            <a:endParaRPr lang="en-US" sz="13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0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7088411" name="Text 0"/>
          <p:cNvSpPr/>
          <p:nvPr/>
        </p:nvSpPr>
        <p:spPr bwMode="auto">
          <a:xfrm>
            <a:off x="761999" y="507999"/>
            <a:ext cx="5479542" cy="507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99"/>
              </a:lnSpc>
              <a:spcAft>
                <a:spcPts val="1874"/>
              </a:spcAft>
              <a:buNone/>
              <a:defRPr/>
            </a:pPr>
            <a:r>
              <a:rPr lang="en-US" sz="2700" b="1">
                <a:solidFill>
                  <a:srgbClr val="1E3A8A"/>
                </a:solidFill>
                <a:latin typeface="Arial"/>
                <a:ea typeface="Arial"/>
                <a:cs typeface="Arial"/>
              </a:rPr>
              <a:t>Educação e Arquitectura</a:t>
            </a:r>
            <a:endParaRPr lang="en-US" sz="2700"/>
          </a:p>
        </p:txBody>
      </p:sp>
      <p:sp>
        <p:nvSpPr>
          <p:cNvPr id="1514602543" name="Text 1"/>
          <p:cNvSpPr/>
          <p:nvPr/>
        </p:nvSpPr>
        <p:spPr bwMode="auto">
          <a:xfrm>
            <a:off x="761999" y="1333499"/>
            <a:ext cx="10881360" cy="365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9"/>
              </a:lnSpc>
              <a:spcBef>
                <a:spcPts val="1124"/>
              </a:spcBef>
              <a:spcAft>
                <a:spcPts val="749"/>
              </a:spcAft>
              <a:buNone/>
              <a:defRPr/>
            </a:pPr>
            <a:r>
              <a:rPr lang="en-US" sz="1800" b="1">
                <a:solidFill>
                  <a:srgbClr val="3B82F6"/>
                </a:solidFill>
                <a:latin typeface="Arial"/>
                <a:ea typeface="Arial"/>
                <a:cs typeface="Arial"/>
              </a:rPr>
              <a:t>Valor Educacional</a:t>
            </a:r>
            <a:endParaRPr lang="en-US" sz="1800"/>
          </a:p>
        </p:txBody>
      </p:sp>
      <p:sp>
        <p:nvSpPr>
          <p:cNvPr id="1697479261" name="Text 2"/>
          <p:cNvSpPr/>
          <p:nvPr/>
        </p:nvSpPr>
        <p:spPr bwMode="auto">
          <a:xfrm>
            <a:off x="761999" y="1826219"/>
            <a:ext cx="10667999" cy="1066799"/>
          </a:xfrm>
          <a:prstGeom prst="rect">
            <a:avLst/>
          </a:prstGeom>
          <a:noFill/>
          <a:ln/>
        </p:spPr>
        <p:txBody>
          <a:bodyPr wrap="square" lIns="119062" tIns="0" rIns="0" bIns="0" rtlCol="0" anchor="t"/>
          <a:lstStyle/>
          <a:p>
            <a:pPr marL="119062" indent="-119062" algn="l">
              <a:lnSpc>
                <a:spcPts val="2099"/>
              </a:lnSpc>
              <a:spcAft>
                <a:spcPts val="449"/>
              </a:spcAft>
              <a:buSzPct val="100000"/>
              <a:buChar char="•"/>
              <a:defRPr/>
            </a:pPr>
            <a:r>
              <a:rPr lang="en-US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Compreensão profunda do hardware</a:t>
            </a:r>
            <a:endParaRPr lang="en-US" sz="1350"/>
          </a:p>
          <a:p>
            <a:pPr marL="119062" indent="-119062" algn="l">
              <a:lnSpc>
                <a:spcPts val="2099"/>
              </a:lnSpc>
              <a:spcAft>
                <a:spcPts val="449"/>
              </a:spcAft>
              <a:buSzPct val="100000"/>
              <a:buChar char="•"/>
              <a:defRPr/>
            </a:pPr>
            <a:r>
              <a:rPr lang="en-US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Base para estudos avançados</a:t>
            </a:r>
            <a:endParaRPr lang="en-US" sz="1350"/>
          </a:p>
        </p:txBody>
      </p:sp>
      <p:sp>
        <p:nvSpPr>
          <p:cNvPr id="1641722055" name="Text 3"/>
          <p:cNvSpPr/>
          <p:nvPr/>
        </p:nvSpPr>
        <p:spPr bwMode="auto">
          <a:xfrm>
            <a:off x="761999" y="3083519"/>
            <a:ext cx="10881360" cy="365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9"/>
              </a:lnSpc>
              <a:spcBef>
                <a:spcPts val="1124"/>
              </a:spcBef>
              <a:spcAft>
                <a:spcPts val="749"/>
              </a:spcAft>
              <a:buNone/>
              <a:defRPr/>
            </a:pPr>
            <a:r>
              <a:rPr lang="en-US" sz="1800" b="1">
                <a:solidFill>
                  <a:srgbClr val="3B82F6"/>
                </a:solidFill>
                <a:latin typeface="Arial"/>
                <a:ea typeface="Arial"/>
                <a:cs typeface="Arial"/>
              </a:rPr>
              <a:t>Conceitos Tangíveis</a:t>
            </a:r>
            <a:endParaRPr lang="en-US" sz="1800"/>
          </a:p>
        </p:txBody>
      </p:sp>
      <p:sp>
        <p:nvSpPr>
          <p:cNvPr id="1809091555" name="Text 4"/>
          <p:cNvSpPr/>
          <p:nvPr/>
        </p:nvSpPr>
        <p:spPr bwMode="auto">
          <a:xfrm>
            <a:off x="761999" y="3576239"/>
            <a:ext cx="10667999" cy="1066799"/>
          </a:xfrm>
          <a:prstGeom prst="rect">
            <a:avLst/>
          </a:prstGeom>
          <a:noFill/>
          <a:ln/>
        </p:spPr>
        <p:txBody>
          <a:bodyPr wrap="square" lIns="119062" tIns="0" rIns="0" bIns="0" rtlCol="0" anchor="t"/>
          <a:lstStyle/>
          <a:p>
            <a:pPr marL="119062" indent="-119062" algn="l">
              <a:lnSpc>
                <a:spcPts val="2099"/>
              </a:lnSpc>
              <a:spcAft>
                <a:spcPts val="449"/>
              </a:spcAft>
              <a:buSzPct val="100000"/>
              <a:buChar char="•"/>
              <a:defRPr/>
            </a:pPr>
            <a:r>
              <a:rPr lang="en-US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Gestão de memória e registos do CPU</a:t>
            </a:r>
            <a:endParaRPr lang="en-US" sz="1350"/>
          </a:p>
          <a:p>
            <a:pPr marL="119062" indent="-119062" algn="l">
              <a:lnSpc>
                <a:spcPts val="2099"/>
              </a:lnSpc>
              <a:spcAft>
                <a:spcPts val="449"/>
              </a:spcAft>
              <a:buSzPct val="100000"/>
              <a:buChar char="•"/>
              <a:defRPr/>
            </a:pPr>
            <a:r>
              <a:rPr lang="en-US" sz="1350">
                <a:solidFill>
                  <a:srgbClr val="334155"/>
                </a:solidFill>
                <a:latin typeface="Arial"/>
                <a:ea typeface="Arial"/>
                <a:cs typeface="Arial"/>
              </a:rPr>
              <a:t>Pilha de execução e pipeline</a:t>
            </a:r>
            <a:endParaRPr lang="en-US" sz="1350"/>
          </a:p>
        </p:txBody>
      </p:sp>
      <p:sp>
        <p:nvSpPr>
          <p:cNvPr id="1226775207" name="Text 5"/>
          <p:cNvSpPr/>
          <p:nvPr/>
        </p:nvSpPr>
        <p:spPr bwMode="auto">
          <a:xfrm>
            <a:off x="761999" y="4795439"/>
            <a:ext cx="10667999" cy="665361"/>
          </a:xfrm>
          <a:prstGeom prst="roundRect">
            <a:avLst>
              <a:gd name="adj" fmla="val 11452"/>
            </a:avLst>
          </a:prstGeom>
          <a:solidFill>
            <a:srgbClr val="60A5FA"/>
          </a:solidFill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/>
          </a:p>
        </p:txBody>
      </p:sp>
      <p:sp>
        <p:nvSpPr>
          <p:cNvPr id="586641142" name="Text 6"/>
          <p:cNvSpPr/>
          <p:nvPr/>
        </p:nvSpPr>
        <p:spPr bwMode="auto">
          <a:xfrm>
            <a:off x="952499" y="4985939"/>
            <a:ext cx="10492740" cy="284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79"/>
              </a:lnSpc>
              <a:buNone/>
              <a:defRPr/>
            </a:pPr>
            <a:r>
              <a:rPr lang="en-US" sz="1200">
                <a:solidFill>
                  <a:srgbClr val="FFFFFF"/>
                </a:solidFill>
                <a:latin typeface="Arial"/>
                <a:ea typeface="Arial"/>
                <a:cs typeface="Arial"/>
              </a:rPr>
              <a:t>"Assembly é uma arte" - Vu (2016)</a:t>
            </a:r>
            <a:endParaRPr lang="en-US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867073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Assemblers Comparison</a:t>
            </a:r>
            <a:endParaRPr/>
          </a:p>
        </p:txBody>
      </p:sp>
      <p:graphicFrame>
        <p:nvGraphicFramePr>
          <p:cNvPr id="1192523106" name=""/>
          <p:cNvGraphicFramePr>
            <a:graphicFrameLocks xmlns:a="http://schemas.openxmlformats.org/drawingml/2006/main"/>
          </p:cNvGraphicFramePr>
          <p:nvPr>
            <p:ph idx="1"/>
          </p:nvPr>
        </p:nvGraphicFramePr>
        <p:xfrm rot="0">
          <a:off x="838198" y="1825624"/>
          <a:ext cx="10515600" cy="269217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2085408"/>
                <a:gridCol w="2085408"/>
                <a:gridCol w="2039184"/>
                <a:gridCol w="1799996"/>
                <a:gridCol w="2417041"/>
              </a:tblGrid>
              <a:tr h="642700">
                <a:tc>
                  <a:txBody>
                    <a:bodyPr/>
                    <a:p>
                      <a:pPr marL="0" marR="0" indent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799"/>
                        </a:spcAft>
                        <a:defRPr/>
                      </a:pPr>
                      <a:r>
                        <a:rPr lang="en-GB" sz="2400" b="1" i="0" u="none" strike="noStrike" cap="none" spc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</a:rPr>
                        <a:t>Assembler</a:t>
                      </a:r>
                      <a:endParaRPr lang="en-GB" sz="2400" b="1" i="0" u="none" strike="noStrike" cap="none" spc="0">
                        <a:solidFill>
                          <a:schemeClr val="lt1"/>
                        </a:solidFill>
                        <a:latin typeface="Calibri"/>
                        <a:cs typeface="Calibri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marR="0" indent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799"/>
                        </a:spcAft>
                        <a:defRPr/>
                      </a:pPr>
                      <a:r>
                        <a:rPr lang="en-GB" sz="2400" b="1" i="0" u="none" strike="noStrike" cap="none" spc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</a:rPr>
                        <a:t>Syntax</a:t>
                      </a:r>
                      <a:endParaRPr lang="en-GB" sz="2400" b="1" i="0" u="none" strike="noStrike" cap="none" spc="0">
                        <a:solidFill>
                          <a:schemeClr val="lt1"/>
                        </a:solidFill>
                        <a:latin typeface="Calibri"/>
                        <a:cs typeface="Calibri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marR="0" indent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799"/>
                        </a:spcAft>
                        <a:defRPr/>
                      </a:pPr>
                      <a:r>
                        <a:rPr lang="en-GB" sz="2400" b="1" i="0" u="none" strike="noStrike" cap="none" spc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</a:rPr>
                        <a:t>Arquitecture</a:t>
                      </a:r>
                      <a:endParaRPr lang="en-GB" sz="2400" b="1" i="0" u="none" strike="noStrike" cap="none" spc="0">
                        <a:solidFill>
                          <a:schemeClr val="lt1"/>
                        </a:solidFill>
                        <a:latin typeface="Calibri"/>
                        <a:cs typeface="Calibri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marR="0" indent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799"/>
                        </a:spcAft>
                        <a:defRPr/>
                      </a:pPr>
                      <a:r>
                        <a:rPr lang="en-GB" sz="2400" b="1" i="0" u="none" strike="noStrike" cap="none" spc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</a:rPr>
                        <a:t>Platform</a:t>
                      </a:r>
                      <a:endParaRPr lang="en-GB" sz="2400" b="1" i="0" u="none" strike="noStrike" cap="none" spc="0">
                        <a:solidFill>
                          <a:schemeClr val="lt1"/>
                        </a:solidFill>
                        <a:latin typeface="Calibri"/>
                        <a:cs typeface="Calibri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marR="0" indent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799"/>
                        </a:spcAft>
                        <a:defRPr/>
                      </a:pPr>
                      <a:r>
                        <a:rPr lang="en-GB" sz="2400" b="1" i="0" u="none" strike="noStrike" cap="none" spc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</a:rPr>
                        <a:t>Use/Notes</a:t>
                      </a:r>
                      <a:endParaRPr lang="en-GB" sz="2400" b="1" i="0" u="none" strike="noStrike" cap="none" spc="0">
                        <a:solidFill>
                          <a:schemeClr val="lt1"/>
                        </a:solidFill>
                        <a:latin typeface="Calibri"/>
                        <a:cs typeface="Calibri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 sz="1600" b="1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NASM (Netwide Assembler)</a:t>
                      </a:r>
                      <a:endParaRPr sz="1600" b="1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/>
                        <a:t>Intel</a:t>
                      </a:r>
                      <a:endParaRPr 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 sz="1800" b="0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16, 32, 64 bits</a:t>
                      </a:r>
                      <a:endParaRPr lang="en-GB" sz="1800" b="0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 sz="1800" b="0" i="0" u="none" strike="noStrike" cap="none" spc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</a:rPr>
                        <a:t>Linux, Windows, macOS</a:t>
                      </a:r>
                      <a:r>
                        <a:rPr lang="en-GB" sz="1800" b="0" i="0" u="none" strike="noStrike" cap="none" spc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</a:rPr>
                        <a:t>, DOS</a:t>
                      </a:r>
                      <a:endParaRPr 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pt-BR" sz="1800" b="0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Arial"/>
                          <a:cs typeface="Arial"/>
                        </a:rPr>
                        <a:t>Kernels and bootloaders, reliable</a:t>
                      </a:r>
                      <a:endParaRPr sz="1800" b="0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</a:tr>
              <a:tr h="892540"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 sz="1600" b="1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MASM (Microsoft Macro Assembler)</a:t>
                      </a:r>
                      <a:endParaRPr sz="1600" b="1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/>
                        <a:t>Intel</a:t>
                      </a:r>
                      <a:endParaRPr 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 sz="1800" b="0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16, 32, 64 bits</a:t>
                      </a:r>
                      <a:endParaRPr lang="en-GB" sz="1800" b="0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 sz="1800" b="0" i="0" u="none" strike="noStrike" cap="none" spc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</a:rPr>
                        <a:t>Windows, </a:t>
                      </a:r>
                      <a:endParaRPr lang="en-GB" sz="1800" b="0" i="0" u="none" strike="noStrike" cap="none" spc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  <a:p>
                      <a:pPr>
                        <a:defRPr/>
                      </a:pPr>
                      <a:r>
                        <a:rPr lang="en-GB" sz="1800" b="0" i="0" u="none" strike="noStrike" cap="none" spc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</a:rPr>
                        <a:t>MS-DOS</a:t>
                      </a:r>
                      <a:endParaRPr 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pt-BR" sz="1800" b="0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Arial"/>
                          <a:cs typeface="Arial"/>
                        </a:rPr>
                        <a:t>Drivers</a:t>
                      </a:r>
                      <a:endParaRPr sz="1800" b="0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 sz="1600" b="1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GAS (GNU Assembler)</a:t>
                      </a:r>
                      <a:endParaRPr sz="1600" b="1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/>
                        <a:t>AT&amp;T, Intel</a:t>
                      </a:r>
                      <a:endParaRPr 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 sz="1800" b="0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x86, ARM, MIPS, RISC- V, SPARC</a:t>
                      </a:r>
                      <a:endParaRPr lang="en-GB" sz="1800" b="0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 sz="1800" b="0" i="0" u="none" strike="noStrike" cap="none" spc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</a:rPr>
                        <a:t>Linux/Unix</a:t>
                      </a:r>
                      <a:endParaRPr 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pt-BR" sz="1800" b="0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Arial"/>
                          <a:cs typeface="Arial"/>
                        </a:rPr>
                        <a:t>Standard in kernels on Linux/Unix systems, embeded systems</a:t>
                      </a:r>
                      <a:endParaRPr sz="1800" b="0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 sz="1600" b="1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FASM (Flat</a:t>
                      </a:r>
                      <a:r>
                        <a:rPr lang="pt-BR" sz="1600" b="1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GB" sz="1600" b="1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Assembler) </a:t>
                      </a:r>
                      <a:endParaRPr sz="1600" b="1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/>
                        <a:t>Intel</a:t>
                      </a:r>
                      <a:endParaRPr 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 sz="1800" b="0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16, 32, 64 bits</a:t>
                      </a:r>
                      <a:endParaRPr lang="en-GB" sz="1800" b="0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 sz="1800" b="0" i="0" u="none" strike="noStrike" cap="none" spc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</a:rPr>
                        <a:t>Windows, Linux, DOS,</a:t>
                      </a:r>
                      <a:endParaRPr 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pt-BR" sz="1800" b="0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Arial"/>
                          <a:cs typeface="Arial"/>
                        </a:rPr>
                        <a:t>Fast, self-hosting</a:t>
                      </a:r>
                      <a:endParaRPr sz="1800" b="0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</a:tr>
              <a:tr h="365760"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 sz="1600" b="1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YASM</a:t>
                      </a:r>
                      <a:endParaRPr sz="1600" b="1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/>
                        <a:t>AT&amp;T</a:t>
                      </a:r>
                      <a:r>
                        <a:rPr lang="pt-BR"/>
                        <a:t>, Intel</a:t>
                      </a:r>
                      <a:endParaRPr 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 sz="1800" b="0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</a:rPr>
                        <a:t>16, 32, 64 bits</a:t>
                      </a:r>
                      <a:endParaRPr lang="en-GB" sz="1800" b="0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GB" sz="1800" b="0" i="0" u="none" strike="noStrike" cap="none" spc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</a:rPr>
                        <a:t>Linux, Windows, macOS</a:t>
                      </a:r>
                      <a:endParaRPr lang="en-GB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pt-BR" sz="1800" b="0" i="0" u="none" strike="noStrike" cap="none" spc="0">
                          <a:solidFill>
                            <a:schemeClr val="tx1"/>
                          </a:solidFill>
                          <a:latin typeface="Calibri"/>
                          <a:ea typeface="Arial"/>
                          <a:cs typeface="Arial"/>
                        </a:rPr>
                        <a:t>NASM + new features, good for cross-platform</a:t>
                      </a:r>
                      <a:endParaRPr sz="1800" b="0" i="0" u="none" strike="noStrike" cap="none" spc="0">
                        <a:solidFill>
                          <a:schemeClr val="tx1"/>
                        </a:solidFill>
                        <a:latin typeface="Calibri"/>
                        <a:ea typeface="Arial"/>
                        <a:cs typeface="Arial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ONLYOFFICE/9.2.1.43</Application>
  <PresentationFormat>On-screen Show (4:3)</PresentationFormat>
  <Paragraphs>0</Paragraphs>
  <Slides>11</Slides>
  <Notes>11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Assembly</dc:title>
  <dc:creator>Filipe Dantas</dc:creator>
  <cp:lastModifiedBy/>
  <cp:revision>4</cp:revision>
  <dcterms:created xsi:type="dcterms:W3CDTF">2026-01-15T15:12:53Z</dcterms:created>
  <dcterms:modified xsi:type="dcterms:W3CDTF">2026-01-18T17:15:42Z</dcterms:modified>
</cp:coreProperties>
</file>