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4" d="100"/>
          <a:sy n="64" d="100"/>
        </p:scale>
        <p:origin x="724" y="52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899110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0728119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7299034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7446736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02122370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38025503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70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4659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0161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53B3D7-2B8F-EF0F-7B65-971715EB57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00837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07175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995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CBB7A7-0F3A-179A-3D97-4A197B7E1A4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02205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164436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51592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11CE4F-37B9-73FF-1710-DD8DA8B439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312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23526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9558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8F25FA-5B84-F0AA-8E54-60E5D95B994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12152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60939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5102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EA3761-BA06-A003-6D4B-A415B804ACE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377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567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3667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4C38D-23AE-5FB6-4CC0-8C438AD8EC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6941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15017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11560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404BB63-477B-CB3A-BD6C-D78376CE16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77289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0079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43981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D24846-F818-9597-8034-326014A1FEA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222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5534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789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AF7C5A-ECEE-135F-FA31-0FA9E584307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1271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30788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8202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D039F6-CED3-C26F-7FE6-95B72442DD1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9621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414022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12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4B30C5-49BE-58AF-1FC9-4D92DBDEC52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083404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176602528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GB"/>
              <a:t>Click to edit Master subtitle style</a:t>
            </a:r>
            <a:endParaRPr/>
          </a:p>
        </p:txBody>
      </p:sp>
      <p:sp>
        <p:nvSpPr>
          <p:cNvPr id="10720231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4041637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342046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56343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06749129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43455271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43648091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8177823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613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5375311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4409563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2034538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880944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0609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41079905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66066620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77462014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1187915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97344858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959791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20382459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22787878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9844234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5193149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63852443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43416393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4717966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9625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17115940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94596608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5564877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03136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97504924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0596397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03816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10304805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64773488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34841172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10990242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67882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829949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233219488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07930484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9633757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9007915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98961566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8542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74517219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8761117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21182728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91027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189739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22024489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20413065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4099806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91855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0120670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1695122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213965472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91267991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214190666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5067308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Assembly</a:t>
            </a:r>
            <a:endParaRPr/>
          </a:p>
        </p:txBody>
      </p:sp>
      <p:sp>
        <p:nvSpPr>
          <p:cNvPr id="888954864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409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0832615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20485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374921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246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graphicFrame>
        <p:nvGraphicFramePr>
          <p:cNvPr id="1133692192" name="Content Placeholder 3"/>
          <p:cNvGraphicFramePr>
            <a:graphicFrameLocks xmlns:a="http://schemas.openxmlformats.org/drawingml/2006/main" noGrp="1"/>
          </p:cNvGraphicFramePr>
          <p:nvPr>
            <p:ph idx="1"/>
          </p:nvPr>
        </p:nvGraphicFramePr>
        <p:xfrm rot="0">
          <a:off x="825498" y="2087217"/>
          <a:ext cx="10528299" cy="3835972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3634409"/>
                <a:gridCol w="6881191"/>
              </a:tblGrid>
              <a:tr h="755374"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Rover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Primary Onboard Programming Languages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Sojourner (1997)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C &amp; low-level code (some assembly)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Spirit &amp; Opportunity (2004)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Mostly C (with some assembly/C++)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Curiosity (2011)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Mostly C (with some C++ and support scripts)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Perseverance (2020)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Mostly C/C++ (with automation languages like PLEXIL for specific subsystems)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3087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graphicFrame>
        <p:nvGraphicFramePr>
          <p:cNvPr id="1965224190" name="Content Placeholder 3"/>
          <p:cNvGraphicFramePr>
            <a:graphicFrameLocks xmlns:a="http://schemas.openxmlformats.org/drawingml/2006/main" noGrp="1"/>
          </p:cNvGraphicFramePr>
          <p:nvPr>
            <p:ph idx="1"/>
          </p:nvPr>
        </p:nvGraphicFramePr>
        <p:xfrm rot="0">
          <a:off x="838200" y="1878496"/>
          <a:ext cx="10515600" cy="4184375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984513"/>
                <a:gridCol w="4750904"/>
                <a:gridCol w="3780183"/>
              </a:tblGrid>
              <a:tr h="462700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Category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Neuromorphic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Quantum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42487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Inspiration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Human brain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Quantum physics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42487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Hardware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Spiking neural chips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Qubits in cryogenic systems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82828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Strengths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Low power, real-time learning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Huge theoretical computational power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82828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Weaknesses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Not great at math-heavy computing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Error-prone, hard to scale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42487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Stage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Early but working today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Prototype / research phase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82828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Best fit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Edge AI, robotics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Chemistry, optimization, cryptography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66178" name="Text 0"/>
          <p:cNvSpPr/>
          <p:nvPr/>
        </p:nvSpPr>
        <p:spPr bwMode="auto">
          <a:xfrm>
            <a:off x="761999" y="507999"/>
            <a:ext cx="6204966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9"/>
              </a:lnSpc>
              <a:spcAft>
                <a:spcPts val="1874"/>
              </a:spcAft>
              <a:buNone/>
              <a:defRPr/>
            </a:pPr>
            <a:r>
              <a:rPr lang="en-US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Sistemas Embarcados e IoT</a:t>
            </a:r>
            <a:endParaRPr lang="en-US" sz="2700"/>
          </a:p>
        </p:txBody>
      </p:sp>
      <p:sp>
        <p:nvSpPr>
          <p:cNvPr id="1894868405" name="Text 1"/>
          <p:cNvSpPr/>
          <p:nvPr/>
        </p:nvSpPr>
        <p:spPr bwMode="auto">
          <a:xfrm>
            <a:off x="761999" y="152399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Características</a:t>
            </a:r>
            <a:endParaRPr lang="en-US" sz="1800"/>
          </a:p>
        </p:txBody>
      </p:sp>
      <p:sp>
        <p:nvSpPr>
          <p:cNvPr id="1843995578" name="Text 2"/>
          <p:cNvSpPr/>
          <p:nvPr/>
        </p:nvSpPr>
        <p:spPr bwMode="auto">
          <a:xfrm>
            <a:off x="761999" y="2016720"/>
            <a:ext cx="5143500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Recursos muito limitados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Processadores baixa frequência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Cada ciclo é crítico</a:t>
            </a:r>
            <a:endParaRPr lang="en-US" sz="1350"/>
          </a:p>
        </p:txBody>
      </p:sp>
      <p:sp>
        <p:nvSpPr>
          <p:cNvPr id="1198050845" name="Text 3"/>
          <p:cNvSpPr/>
          <p:nvPr/>
        </p:nvSpPr>
        <p:spPr bwMode="auto">
          <a:xfrm>
            <a:off x="6286500" y="152399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Vantagens Assembly</a:t>
            </a:r>
            <a:endParaRPr lang="en-US" sz="1800"/>
          </a:p>
        </p:txBody>
      </p:sp>
      <p:sp>
        <p:nvSpPr>
          <p:cNvPr id="563706231" name="Text 4"/>
          <p:cNvSpPr/>
          <p:nvPr/>
        </p:nvSpPr>
        <p:spPr bwMode="auto">
          <a:xfrm>
            <a:off x="6286500" y="2016720"/>
            <a:ext cx="5143500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Eficiência máxima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Resposta previsível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Controlo preciso</a:t>
            </a:r>
            <a:endParaRPr lang="en-US" sz="1350"/>
          </a:p>
        </p:txBody>
      </p:sp>
      <p:sp>
        <p:nvSpPr>
          <p:cNvPr id="1104059195" name="Text 5"/>
          <p:cNvSpPr/>
          <p:nvPr/>
        </p:nvSpPr>
        <p:spPr bwMode="auto">
          <a:xfrm>
            <a:off x="761999" y="3896319"/>
            <a:ext cx="10667999" cy="665361"/>
          </a:xfrm>
          <a:prstGeom prst="roundRect">
            <a:avLst>
              <a:gd name="adj" fmla="val 11452"/>
            </a:avLst>
          </a:prstGeom>
          <a:solidFill>
            <a:srgbClr val="60A5FA"/>
          </a:solidFill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1126850861" name="Text 6"/>
          <p:cNvSpPr/>
          <p:nvPr/>
        </p:nvSpPr>
        <p:spPr bwMode="auto">
          <a:xfrm>
            <a:off x="952499" y="4086819"/>
            <a:ext cx="1049274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79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ARM AS domina este sector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439186" name="Text 0"/>
          <p:cNvSpPr/>
          <p:nvPr/>
        </p:nvSpPr>
        <p:spPr bwMode="auto">
          <a:xfrm>
            <a:off x="761999" y="507999"/>
            <a:ext cx="7111746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9"/>
              </a:lnSpc>
              <a:spcAft>
                <a:spcPts val="1874"/>
              </a:spcAft>
              <a:buNone/>
              <a:defRPr/>
            </a:pPr>
            <a:r>
              <a:rPr lang="en-US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Sistemas Críticos de Segurança</a:t>
            </a:r>
            <a:endParaRPr lang="en-US" sz="2700"/>
          </a:p>
        </p:txBody>
      </p:sp>
      <p:sp>
        <p:nvSpPr>
          <p:cNvPr id="2104141427" name="Text 1"/>
          <p:cNvSpPr/>
          <p:nvPr/>
        </p:nvSpPr>
        <p:spPr bwMode="auto">
          <a:xfrm>
            <a:off x="761999" y="1333499"/>
            <a:ext cx="10881360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Sectores de Aplicação</a:t>
            </a:r>
            <a:endParaRPr lang="en-US" sz="1800"/>
          </a:p>
        </p:txBody>
      </p:sp>
      <p:sp>
        <p:nvSpPr>
          <p:cNvPr id="1022955165" name="Text 2"/>
          <p:cNvSpPr/>
          <p:nvPr/>
        </p:nvSpPr>
        <p:spPr bwMode="auto">
          <a:xfrm>
            <a:off x="761999" y="1826219"/>
            <a:ext cx="10667999" cy="21843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Aviação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Sistemas de controlo de voo (DO-178C)</a:t>
            </a:r>
            <a:endParaRPr lang="en-US" sz="1350"/>
          </a:p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Energia Nuclear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Controlo e segurança</a:t>
            </a:r>
            <a:endParaRPr lang="en-US" sz="1350"/>
          </a:p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Dispositivos Médicos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Pacemakers (IEC 62304)</a:t>
            </a:r>
            <a:endParaRPr lang="en-US" sz="1350"/>
          </a:p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Automóvel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Sistemas de travagem</a:t>
            </a:r>
            <a:endParaRPr lang="en-US" sz="1350"/>
          </a:p>
        </p:txBody>
      </p:sp>
      <p:sp>
        <p:nvSpPr>
          <p:cNvPr id="839205234" name="Text 3"/>
          <p:cNvSpPr/>
          <p:nvPr/>
        </p:nvSpPr>
        <p:spPr bwMode="auto">
          <a:xfrm>
            <a:off x="761999" y="4163019"/>
            <a:ext cx="10667999" cy="665361"/>
          </a:xfrm>
          <a:prstGeom prst="roundRect">
            <a:avLst>
              <a:gd name="adj" fmla="val 11452"/>
            </a:avLst>
          </a:prstGeom>
          <a:solidFill>
            <a:srgbClr val="60A5FA"/>
          </a:solidFill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41192611" name="Text 4"/>
          <p:cNvSpPr/>
          <p:nvPr/>
        </p:nvSpPr>
        <p:spPr bwMode="auto">
          <a:xfrm>
            <a:off x="937257" y="4353518"/>
            <a:ext cx="1049274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78"/>
              </a:lnSpc>
              <a:buNone/>
              <a:defRPr/>
            </a:pPr>
            <a:r>
              <a:rPr lang="en-US" sz="1200" b="0" i="0" u="none" strike="noStrike" cap="none" spc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ARM AS domina este sector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478256" name="Text 0"/>
          <p:cNvSpPr/>
          <p:nvPr/>
        </p:nvSpPr>
        <p:spPr bwMode="auto">
          <a:xfrm>
            <a:off x="761999" y="507999"/>
            <a:ext cx="5557266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9"/>
              </a:lnSpc>
              <a:spcAft>
                <a:spcPts val="1874"/>
              </a:spcAft>
              <a:buNone/>
              <a:defRPr/>
            </a:pPr>
            <a:r>
              <a:rPr lang="en-US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Criptografia e Segurança</a:t>
            </a:r>
            <a:endParaRPr lang="en-US" sz="2700"/>
          </a:p>
        </p:txBody>
      </p:sp>
      <p:sp>
        <p:nvSpPr>
          <p:cNvPr id="780206985" name="Text 1"/>
          <p:cNvSpPr/>
          <p:nvPr/>
        </p:nvSpPr>
        <p:spPr bwMode="auto">
          <a:xfrm>
            <a:off x="761999" y="152399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Ataques Auxiliares</a:t>
            </a:r>
            <a:endParaRPr lang="en-US" sz="1800"/>
          </a:p>
        </p:txBody>
      </p:sp>
      <p:sp>
        <p:nvSpPr>
          <p:cNvPr id="98361719" name="Text 2"/>
          <p:cNvSpPr/>
          <p:nvPr/>
        </p:nvSpPr>
        <p:spPr bwMode="auto">
          <a:xfrm>
            <a:off x="761999" y="2016720"/>
            <a:ext cx="5143500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Timing attacks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Cache-timing attacks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Exploram tempo de execução</a:t>
            </a:r>
            <a:endParaRPr lang="en-US" sz="1350"/>
          </a:p>
        </p:txBody>
      </p:sp>
      <p:sp>
        <p:nvSpPr>
          <p:cNvPr id="1115869322" name="Text 3"/>
          <p:cNvSpPr/>
          <p:nvPr/>
        </p:nvSpPr>
        <p:spPr bwMode="auto">
          <a:xfrm>
            <a:off x="761999" y="383281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Solução</a:t>
            </a:r>
            <a:endParaRPr lang="en-US" sz="1800"/>
          </a:p>
        </p:txBody>
      </p:sp>
      <p:sp>
        <p:nvSpPr>
          <p:cNvPr id="89818127" name="Text 4"/>
          <p:cNvSpPr/>
          <p:nvPr/>
        </p:nvSpPr>
        <p:spPr bwMode="auto">
          <a:xfrm>
            <a:off x="761999" y="4325539"/>
            <a:ext cx="5143500" cy="5079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Código constant-time</a:t>
            </a:r>
            <a:endParaRPr lang="en-US" sz="1350"/>
          </a:p>
        </p:txBody>
      </p:sp>
      <p:sp>
        <p:nvSpPr>
          <p:cNvPr id="792221008" name="Text 5"/>
          <p:cNvSpPr/>
          <p:nvPr/>
        </p:nvSpPr>
        <p:spPr bwMode="auto">
          <a:xfrm>
            <a:off x="6286500" y="152399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Bibliotecas</a:t>
            </a:r>
            <a:endParaRPr lang="en-US" sz="1800"/>
          </a:p>
        </p:txBody>
      </p:sp>
      <p:sp>
        <p:nvSpPr>
          <p:cNvPr id="774108172" name="Text 6"/>
          <p:cNvSpPr/>
          <p:nvPr/>
        </p:nvSpPr>
        <p:spPr bwMode="auto">
          <a:xfrm>
            <a:off x="6286500" y="2016720"/>
            <a:ext cx="5143500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OpenSSL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libsodium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Rotinas críticas em Assembly</a:t>
            </a:r>
            <a:endParaRPr lang="en-US" sz="1350"/>
          </a:p>
        </p:txBody>
      </p:sp>
      <p:sp>
        <p:nvSpPr>
          <p:cNvPr id="954232727" name="Text 7"/>
          <p:cNvSpPr/>
          <p:nvPr/>
        </p:nvSpPr>
        <p:spPr bwMode="auto">
          <a:xfrm>
            <a:off x="761999" y="5087539"/>
            <a:ext cx="10667999" cy="665361"/>
          </a:xfrm>
          <a:prstGeom prst="roundRect">
            <a:avLst>
              <a:gd name="adj" fmla="val 11452"/>
            </a:avLst>
          </a:prstGeom>
          <a:solidFill>
            <a:srgbClr val="60A5FA"/>
          </a:solidFill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410150357" name="Text 8"/>
          <p:cNvSpPr/>
          <p:nvPr/>
        </p:nvSpPr>
        <p:spPr bwMode="auto">
          <a:xfrm>
            <a:off x="952499" y="5278039"/>
            <a:ext cx="1049274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79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NASM, GAS e MASM em criptografia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264129" name="Text 0"/>
          <p:cNvSpPr/>
          <p:nvPr/>
        </p:nvSpPr>
        <p:spPr bwMode="auto">
          <a:xfrm>
            <a:off x="761999" y="507999"/>
            <a:ext cx="7189470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9"/>
              </a:lnSpc>
              <a:spcAft>
                <a:spcPts val="1874"/>
              </a:spcAft>
              <a:buNone/>
              <a:defRPr/>
            </a:pPr>
            <a:r>
              <a:rPr lang="en-US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Drivers, Firmware e Bootloaders</a:t>
            </a:r>
            <a:endParaRPr lang="en-US" sz="2700"/>
          </a:p>
        </p:txBody>
      </p:sp>
      <p:sp>
        <p:nvSpPr>
          <p:cNvPr id="1964758168" name="Text 1"/>
          <p:cNvSpPr/>
          <p:nvPr/>
        </p:nvSpPr>
        <p:spPr bwMode="auto">
          <a:xfrm>
            <a:off x="761999" y="1333499"/>
            <a:ext cx="10881360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Componentes de Sistema</a:t>
            </a:r>
            <a:endParaRPr lang="en-US" sz="1800"/>
          </a:p>
        </p:txBody>
      </p:sp>
      <p:sp>
        <p:nvSpPr>
          <p:cNvPr id="897742087" name="Text 2"/>
          <p:cNvSpPr/>
          <p:nvPr/>
        </p:nvSpPr>
        <p:spPr bwMode="auto">
          <a:xfrm>
            <a:off x="761999" y="1826219"/>
            <a:ext cx="10667999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Drivers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Interface hardware ↔ SO</a:t>
            </a:r>
            <a:endParaRPr lang="en-US" sz="1350"/>
          </a:p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Firmware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Software embebido</a:t>
            </a:r>
            <a:endParaRPr lang="en-US" sz="1350"/>
          </a:p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Bootloaders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Inicialização antes do SO</a:t>
            </a:r>
            <a:endParaRPr lang="en-US" sz="1350"/>
          </a:p>
        </p:txBody>
      </p:sp>
      <p:sp>
        <p:nvSpPr>
          <p:cNvPr id="2085206172" name="Text 3"/>
          <p:cNvSpPr/>
          <p:nvPr/>
        </p:nvSpPr>
        <p:spPr bwMode="auto">
          <a:xfrm>
            <a:off x="761999" y="3604219"/>
            <a:ext cx="10667999" cy="665361"/>
          </a:xfrm>
          <a:prstGeom prst="roundRect">
            <a:avLst>
              <a:gd name="adj" fmla="val 11452"/>
            </a:avLst>
          </a:prstGeom>
          <a:solidFill>
            <a:srgbClr val="60A5FA"/>
          </a:solidFill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1466437650" name="Text 4"/>
          <p:cNvSpPr/>
          <p:nvPr/>
        </p:nvSpPr>
        <p:spPr bwMode="auto">
          <a:xfrm>
            <a:off x="952499" y="3794719"/>
            <a:ext cx="1049274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79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GAS domina em Linux, </a:t>
            </a:r>
            <a:r>
              <a:rPr lang="pt-BR"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ASM em Windows</a:t>
            </a:r>
            <a:endParaRPr lang="en-US" sz="1200"/>
          </a:p>
        </p:txBody>
      </p:sp>
      <p:sp>
        <p:nvSpPr>
          <p:cNvPr id="165974240" name="Text 5"/>
          <p:cNvSpPr/>
          <p:nvPr/>
        </p:nvSpPr>
        <p:spPr bwMode="auto">
          <a:xfrm>
            <a:off x="761999" y="4460081"/>
            <a:ext cx="10881360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Requisitos</a:t>
            </a:r>
            <a:endParaRPr lang="en-US" sz="1800"/>
          </a:p>
        </p:txBody>
      </p:sp>
      <p:sp>
        <p:nvSpPr>
          <p:cNvPr id="357928306" name="Text 6"/>
          <p:cNvSpPr/>
          <p:nvPr/>
        </p:nvSpPr>
        <p:spPr bwMode="auto">
          <a:xfrm>
            <a:off x="761999" y="4952801"/>
            <a:ext cx="10667999" cy="10667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Acesso directo a instruções do CPU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Gestão de interrupções ao nível do hardware</a:t>
            </a: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354527" name="Text 0"/>
          <p:cNvSpPr/>
          <p:nvPr/>
        </p:nvSpPr>
        <p:spPr bwMode="auto">
          <a:xfrm>
            <a:off x="761999" y="507999"/>
            <a:ext cx="5479542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9"/>
              </a:lnSpc>
              <a:spcAft>
                <a:spcPts val="1874"/>
              </a:spcAft>
              <a:buNone/>
              <a:defRPr/>
            </a:pPr>
            <a:r>
              <a:rPr lang="en-US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Educação e Arquitectura</a:t>
            </a:r>
            <a:endParaRPr lang="en-US" sz="2700"/>
          </a:p>
        </p:txBody>
      </p:sp>
      <p:sp>
        <p:nvSpPr>
          <p:cNvPr id="1700507" name="Text 1"/>
          <p:cNvSpPr/>
          <p:nvPr/>
        </p:nvSpPr>
        <p:spPr bwMode="auto">
          <a:xfrm>
            <a:off x="761999" y="1333499"/>
            <a:ext cx="10881360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Valor Educacional</a:t>
            </a:r>
            <a:endParaRPr lang="en-US" sz="1800"/>
          </a:p>
        </p:txBody>
      </p:sp>
      <p:sp>
        <p:nvSpPr>
          <p:cNvPr id="1647979622" name="Text 2"/>
          <p:cNvSpPr/>
          <p:nvPr/>
        </p:nvSpPr>
        <p:spPr bwMode="auto">
          <a:xfrm>
            <a:off x="761999" y="1826219"/>
            <a:ext cx="10667999" cy="10667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Compreensão profunda do hardware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Base para estudos avançados</a:t>
            </a:r>
            <a:endParaRPr lang="en-US" sz="1350"/>
          </a:p>
        </p:txBody>
      </p:sp>
      <p:sp>
        <p:nvSpPr>
          <p:cNvPr id="509471523" name="Text 3"/>
          <p:cNvSpPr/>
          <p:nvPr/>
        </p:nvSpPr>
        <p:spPr bwMode="auto">
          <a:xfrm>
            <a:off x="761999" y="3083519"/>
            <a:ext cx="10881360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Conceitos Tangíveis</a:t>
            </a:r>
            <a:endParaRPr lang="en-US" sz="1800"/>
          </a:p>
        </p:txBody>
      </p:sp>
      <p:sp>
        <p:nvSpPr>
          <p:cNvPr id="409696057" name="Text 4"/>
          <p:cNvSpPr/>
          <p:nvPr/>
        </p:nvSpPr>
        <p:spPr bwMode="auto">
          <a:xfrm>
            <a:off x="761999" y="3576238"/>
            <a:ext cx="10667999" cy="10667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Gestão de memória e registos do CPU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Pilha de execução e pipeline</a:t>
            </a:r>
            <a:endParaRPr lang="en-US" sz="1350"/>
          </a:p>
        </p:txBody>
      </p:sp>
      <p:sp>
        <p:nvSpPr>
          <p:cNvPr id="435043041" name="Text 5"/>
          <p:cNvSpPr/>
          <p:nvPr/>
        </p:nvSpPr>
        <p:spPr bwMode="auto">
          <a:xfrm>
            <a:off x="761999" y="4795438"/>
            <a:ext cx="10667999" cy="665361"/>
          </a:xfrm>
          <a:prstGeom prst="roundRect">
            <a:avLst>
              <a:gd name="adj" fmla="val 11452"/>
            </a:avLst>
          </a:prstGeom>
          <a:solidFill>
            <a:srgbClr val="60A5FA"/>
          </a:solidFill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1198792263" name="Text 6"/>
          <p:cNvSpPr/>
          <p:nvPr/>
        </p:nvSpPr>
        <p:spPr bwMode="auto">
          <a:xfrm>
            <a:off x="952499" y="4985939"/>
            <a:ext cx="1049274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79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"Assembly é uma arte" - Vu (2016)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90515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Assemblers Comparison</a:t>
            </a:r>
            <a:endParaRPr/>
          </a:p>
        </p:txBody>
      </p:sp>
      <p:graphicFrame>
        <p:nvGraphicFramePr>
          <p:cNvPr id="191821657" name=""/>
          <p:cNvGraphicFramePr>
            <a:graphicFrameLocks xmlns:a="http://schemas.openxmlformats.org/drawingml/2006/main"/>
          </p:cNvGraphicFramePr>
          <p:nvPr>
            <p:ph idx="1"/>
          </p:nvPr>
        </p:nvGraphicFramePr>
        <p:xfrm rot="0">
          <a:off x="838197" y="1562552"/>
          <a:ext cx="10439736" cy="474833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085408"/>
                <a:gridCol w="1604592"/>
                <a:gridCol w="2430000"/>
                <a:gridCol w="1710000"/>
                <a:gridCol w="2597036"/>
              </a:tblGrid>
              <a:tr h="642700"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Assembler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Arquitecture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Platform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Use/Notes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NASM (Netwide Assembler)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16, 32, 64 bits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Linux, Windows, macOS</a:t>
                      </a: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, DOS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Kernels and bootloaders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61992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MASM (Microsoft Macro Assembler)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16, 32, 64 bits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Windows, </a:t>
                      </a:r>
                      <a:endParaRPr lang="en-GB" sz="1800" b="0" i="0" u="none" strike="noStrike" cap="none" spc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MS-DOS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Drivers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GAS (GNU Assembler)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AT&amp;T, 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x86, ARM, MIPS, RISC- V, SPARC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Linux/Unix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Standard in kernels on Linux/Unix systems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GAS (ARM)</a:t>
                      </a:r>
                      <a:endParaRPr lang="pt-BR"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/>
                        <a:t>ARM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ARM32/ARM64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Linux/Android</a:t>
                      </a:r>
                      <a:endParaRPr lang="en-GB" sz="1800" b="0" i="0" u="none" strike="noStrike" cap="none" spc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Sistemas Linux de ARM</a:t>
                      </a:r>
                      <a:endParaRPr lang="pt-BR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 e Android</a:t>
                      </a:r>
                      <a:endParaRPr lang="pt-BR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ARMASM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ARM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ARM32/ARM64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Windows, Linux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Embedded Systems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LLVM / Clang ASM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/>
                        <a:t>ARM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ARM64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Linux, </a:t>
                      </a:r>
                      <a:r>
                        <a:rPr lang="pt-BR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Android</a:t>
                      </a: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, </a:t>
                      </a:r>
                      <a:r>
                        <a:rPr lang="pt-BR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OS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Modern Mobile and Apple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ONLYOFFICE/9.2.1.43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</dc:title>
  <dc:creator>Filipe Dantas</dc:creator>
  <cp:lastModifiedBy/>
  <cp:revision>5</cp:revision>
  <dcterms:created xsi:type="dcterms:W3CDTF">2026-01-15T15:12:53Z</dcterms:created>
  <dcterms:modified xsi:type="dcterms:W3CDTF">2026-01-19T11:19:06Z</dcterms:modified>
</cp:coreProperties>
</file>