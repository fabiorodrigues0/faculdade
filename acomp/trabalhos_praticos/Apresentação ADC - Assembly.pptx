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4" d="100"/>
          <a:sy n="64" d="100"/>
        </p:scale>
        <p:origin x="724" y="52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896557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739924686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83117384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7233150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23290747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487631925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7486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575808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1638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53B3D7-2B8F-EF0F-7B65-971715EB573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48639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86911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8797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CBB7A7-0F3A-179A-3D97-4A197B7E1A4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66076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68246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5850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11CE4F-37B9-73FF-1710-DD8DA8B439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54464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785742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4427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8F25FA-5B84-F0AA-8E54-60E5D95B994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3207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047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7794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EA3761-BA06-A003-6D4B-A415B804ACE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8278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82246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42796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4C38D-23AE-5FB6-4CC0-8C438AD8EC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50057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787455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75776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D24846-F818-9597-8034-326014A1FEA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4765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18729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666857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AF7C5A-ECEE-135F-FA31-0FA9E584307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6398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09150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3596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4B30C5-49BE-58AF-1FC9-4D92DBDEC52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8591949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959278766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GB"/>
              <a:t>Click to edit Master subtitle style</a:t>
            </a:r>
            <a:endParaRPr/>
          </a:p>
        </p:txBody>
      </p:sp>
      <p:sp>
        <p:nvSpPr>
          <p:cNvPr id="11868494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04278980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67887875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835509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41972392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20381900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1945341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7208988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68121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06822605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30614796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4093122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7057307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15466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6687550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64154962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72632799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53369292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0027717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324067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202500240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20910872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22748152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29229717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65372322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22046638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0882530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386082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406957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63668777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04755336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83615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35712272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2423084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45596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196910342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57108367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70395130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67935917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5371009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981821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991926145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38625787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0946721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76627246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2027072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203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86147310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44969326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35542387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67039214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165917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213728682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61796449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09239151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2206419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835783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85665135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55775260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90735798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36448556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406976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Assembly</a:t>
            </a:r>
            <a:endParaRPr/>
          </a:p>
        </p:txBody>
      </p:sp>
      <p:sp>
        <p:nvSpPr>
          <p:cNvPr id="1360224236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33577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488560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619603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8257493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36113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graphicFrame>
        <p:nvGraphicFramePr>
          <p:cNvPr id="116042237" name="Content Placeholder 3"/>
          <p:cNvGraphicFramePr>
            <a:graphicFrameLocks xmlns:a="http://schemas.openxmlformats.org/drawingml/2006/main" noGrp="1"/>
          </p:cNvGraphicFramePr>
          <p:nvPr>
            <p:ph idx="1"/>
          </p:nvPr>
        </p:nvGraphicFramePr>
        <p:xfrm rot="0">
          <a:off x="825498" y="2087217"/>
          <a:ext cx="10528299" cy="3835972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3634409"/>
                <a:gridCol w="6881191"/>
              </a:tblGrid>
              <a:tr h="755374"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Rover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Primary Onboard Programming Languages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755374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Sojourner (1997)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C &amp; low-level code (some assembly)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755374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Spirit &amp; Opportunity (2004)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Mostly C (with some assembly/C++)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755374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Curiosity (2011)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Mostly C (with some C++ and support scripts)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755374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Perseverance (2020)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Mostly C/C++ (with automation languages like PLEXIL for specific subsystems)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368873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graphicFrame>
        <p:nvGraphicFramePr>
          <p:cNvPr id="1604668623" name="Content Placeholder 3"/>
          <p:cNvGraphicFramePr>
            <a:graphicFrameLocks xmlns:a="http://schemas.openxmlformats.org/drawingml/2006/main" noGrp="1"/>
          </p:cNvGraphicFramePr>
          <p:nvPr>
            <p:ph idx="1"/>
          </p:nvPr>
        </p:nvGraphicFramePr>
        <p:xfrm rot="0">
          <a:off x="838200" y="1878496"/>
          <a:ext cx="10515600" cy="4184375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984513"/>
                <a:gridCol w="4750904"/>
                <a:gridCol w="3780183"/>
              </a:tblGrid>
              <a:tr h="462700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Category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Neuromorphic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Quantum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42487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Inspiration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Human brain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Quantum physics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42487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Hardware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Spiking neural chips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Qubits in cryogenic systems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82828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Strengths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Low power, real-time learning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Huge theoretical computational power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82828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Weaknesses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Not great at math-heavy computing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Error-prone, hard to scale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42487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Stage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Early but working today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Prototype / research phase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82828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Best fit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Edge AI, robotics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Chemistry, optimization, cryptography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094628" name="Text 0"/>
          <p:cNvSpPr/>
          <p:nvPr/>
        </p:nvSpPr>
        <p:spPr bwMode="auto">
          <a:xfrm flipH="0" flipV="0">
            <a:off x="838813" y="507998"/>
            <a:ext cx="10591184" cy="507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98"/>
              </a:lnSpc>
              <a:spcAft>
                <a:spcPts val="1873"/>
              </a:spcAft>
              <a:buNone/>
              <a:defRPr/>
            </a:pPr>
            <a:r>
              <a:rPr lang="pt-PT" sz="2700" b="1">
                <a:solidFill>
                  <a:srgbClr val="1E3A8A"/>
                </a:solidFill>
                <a:latin typeface="Arial"/>
                <a:ea typeface="Arial"/>
                <a:cs typeface="Arial"/>
              </a:rPr>
              <a:t>Sistemas </a:t>
            </a:r>
            <a:r>
              <a:rPr lang="pt-BR" sz="2700" b="1">
                <a:solidFill>
                  <a:srgbClr val="1E3A8A"/>
                </a:solidFill>
                <a:latin typeface="Arial"/>
                <a:ea typeface="Arial"/>
                <a:cs typeface="Arial"/>
              </a:rPr>
              <a:t>“Embedded”</a:t>
            </a:r>
            <a:r>
              <a:rPr lang="pt-BR" sz="2700" b="1">
                <a:solidFill>
                  <a:srgbClr val="1E3A8A"/>
                </a:solidFill>
                <a:latin typeface="Arial"/>
                <a:ea typeface="Arial"/>
                <a:cs typeface="Arial"/>
              </a:rPr>
              <a:t>,</a:t>
            </a:r>
            <a:r>
              <a:rPr lang="pt-PT" sz="2700" b="1">
                <a:solidFill>
                  <a:srgbClr val="1E3A8A"/>
                </a:solidFill>
                <a:latin typeface="Arial"/>
                <a:ea typeface="Arial"/>
                <a:cs typeface="Arial"/>
              </a:rPr>
              <a:t> IoT</a:t>
            </a:r>
            <a:r>
              <a:rPr lang="pt-BR" sz="2700" b="1">
                <a:solidFill>
                  <a:srgbClr val="1E3A8A"/>
                </a:solidFill>
                <a:latin typeface="Arial"/>
                <a:ea typeface="Arial"/>
                <a:cs typeface="Arial"/>
              </a:rPr>
              <a:t> e </a:t>
            </a:r>
            <a:r>
              <a:rPr lang="pt-PT" sz="2700" b="1" i="0" u="none" strike="noStrike" cap="none" spc="0">
                <a:solidFill>
                  <a:srgbClr val="1E3A8A"/>
                </a:solidFill>
                <a:latin typeface="Arial"/>
                <a:ea typeface="Arial"/>
                <a:cs typeface="Arial"/>
              </a:rPr>
              <a:t>Sistemas Críticos de Segurança</a:t>
            </a:r>
            <a:endParaRPr sz="2700"/>
          </a:p>
          <a:p>
            <a:pPr marL="0" indent="0" algn="l">
              <a:lnSpc>
                <a:spcPts val="2998"/>
              </a:lnSpc>
              <a:spcAft>
                <a:spcPts val="1873"/>
              </a:spcAft>
              <a:buNone/>
              <a:defRPr/>
            </a:pPr>
            <a:endParaRPr lang="pt-PT" sz="2700"/>
          </a:p>
        </p:txBody>
      </p:sp>
      <p:sp>
        <p:nvSpPr>
          <p:cNvPr id="373096711" name="Text 1"/>
          <p:cNvSpPr/>
          <p:nvPr/>
        </p:nvSpPr>
        <p:spPr bwMode="auto">
          <a:xfrm>
            <a:off x="761998" y="1590078"/>
            <a:ext cx="5246369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pt-PT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Características</a:t>
            </a:r>
            <a:endParaRPr lang="pt-PT" sz="1800"/>
          </a:p>
        </p:txBody>
      </p:sp>
      <p:sp>
        <p:nvSpPr>
          <p:cNvPr id="1600888785" name="Text 2"/>
          <p:cNvSpPr/>
          <p:nvPr/>
        </p:nvSpPr>
        <p:spPr bwMode="auto">
          <a:xfrm>
            <a:off x="761998" y="2082798"/>
            <a:ext cx="5143500" cy="16255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Recursos muito limitados</a:t>
            </a:r>
            <a:endParaRPr lang="pt-PT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Processadores baixa frequência</a:t>
            </a:r>
            <a:endParaRPr lang="pt-PT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Cada ciclo é crítico</a:t>
            </a:r>
            <a:endParaRPr lang="pt-PT" sz="1350"/>
          </a:p>
        </p:txBody>
      </p:sp>
      <p:sp>
        <p:nvSpPr>
          <p:cNvPr id="1397065239" name="Text 3"/>
          <p:cNvSpPr/>
          <p:nvPr/>
        </p:nvSpPr>
        <p:spPr bwMode="auto">
          <a:xfrm flipH="0" flipV="0">
            <a:off x="761998" y="3804940"/>
            <a:ext cx="4854555" cy="365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pt-PT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Vantagens Assembly</a:t>
            </a:r>
            <a:endParaRPr lang="pt-PT" sz="1800"/>
          </a:p>
        </p:txBody>
      </p:sp>
      <p:sp>
        <p:nvSpPr>
          <p:cNvPr id="682943500" name="Text 4"/>
          <p:cNvSpPr/>
          <p:nvPr/>
        </p:nvSpPr>
        <p:spPr bwMode="auto">
          <a:xfrm flipH="0" flipV="0">
            <a:off x="761998" y="4297661"/>
            <a:ext cx="4854555" cy="1625598"/>
          </a:xfrm>
          <a:prstGeom prst="rect">
            <a:avLst/>
          </a:prstGeom>
          <a:noFill/>
          <a:ln/>
        </p:spPr>
        <p:txBody>
          <a:bodyPr wrap="square" lIns="119061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Eficiência máxima</a:t>
            </a:r>
            <a:endParaRPr lang="pt-PT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Resposta previsível</a:t>
            </a:r>
            <a:endParaRPr lang="pt-PT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Controlo preciso</a:t>
            </a:r>
            <a:endParaRPr lang="pt-PT" sz="1350"/>
          </a:p>
        </p:txBody>
      </p:sp>
      <p:sp>
        <p:nvSpPr>
          <p:cNvPr id="319445386" name="Text 1"/>
          <p:cNvSpPr/>
          <p:nvPr/>
        </p:nvSpPr>
        <p:spPr bwMode="auto">
          <a:xfrm flipH="0" flipV="0">
            <a:off x="5616554" y="1590078"/>
            <a:ext cx="5710574" cy="365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8"/>
              </a:lnSpc>
              <a:spcBef>
                <a:spcPts val="1123"/>
              </a:spcBef>
              <a:spcAft>
                <a:spcPts val="748"/>
              </a:spcAft>
              <a:buNone/>
              <a:defRPr/>
            </a:pPr>
            <a:r>
              <a:rPr lang="pt-PT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Sectores de Aplicação</a:t>
            </a:r>
            <a:endParaRPr lang="pt-PT" sz="1800"/>
          </a:p>
        </p:txBody>
      </p:sp>
      <p:sp>
        <p:nvSpPr>
          <p:cNvPr id="427424875" name="Text 2"/>
          <p:cNvSpPr/>
          <p:nvPr/>
        </p:nvSpPr>
        <p:spPr bwMode="auto">
          <a:xfrm flipH="0" flipV="0">
            <a:off x="5707501" y="2082798"/>
            <a:ext cx="5710574" cy="2184399"/>
          </a:xfrm>
          <a:prstGeom prst="rect">
            <a:avLst/>
          </a:prstGeom>
          <a:noFill/>
          <a:ln/>
        </p:spPr>
        <p:txBody>
          <a:bodyPr wrap="square" lIns="119061" tIns="0" rIns="0" bIns="0" rtlCol="0" anchor="t"/>
          <a:lstStyle/>
          <a:p>
            <a:pPr marL="0" indent="0" algn="l">
              <a:lnSpc>
                <a:spcPts val="2098"/>
              </a:lnSpc>
              <a:spcAft>
                <a:spcPts val="448"/>
              </a:spcAft>
              <a:buNone/>
              <a:defRPr/>
            </a:pPr>
            <a:r>
              <a:rPr lang="pt-PT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Aviação</a:t>
            </a: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Sistemas de controlo de voo (DO-178C)</a:t>
            </a:r>
            <a:endParaRPr lang="pt-PT" sz="1350"/>
          </a:p>
          <a:p>
            <a:pPr marL="0" indent="0" algn="l">
              <a:lnSpc>
                <a:spcPts val="2098"/>
              </a:lnSpc>
              <a:spcAft>
                <a:spcPts val="448"/>
              </a:spcAft>
              <a:buNone/>
              <a:defRPr/>
            </a:pPr>
            <a:r>
              <a:rPr lang="pt-PT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Energia Nuclear</a:t>
            </a: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Controlo e segurança</a:t>
            </a:r>
            <a:endParaRPr lang="pt-PT" sz="1350"/>
          </a:p>
          <a:p>
            <a:pPr marL="0" indent="0" algn="l">
              <a:lnSpc>
                <a:spcPts val="2098"/>
              </a:lnSpc>
              <a:spcAft>
                <a:spcPts val="448"/>
              </a:spcAft>
              <a:buNone/>
              <a:defRPr/>
            </a:pPr>
            <a:r>
              <a:rPr lang="pt-PT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Dispositivos Médicos</a:t>
            </a: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</a:t>
            </a:r>
            <a:r>
              <a:rPr lang="pt-PT" sz="1350" i="1">
                <a:solidFill>
                  <a:srgbClr val="334155"/>
                </a:solidFill>
                <a:latin typeface="Arial"/>
                <a:ea typeface="Arial"/>
                <a:cs typeface="Arial"/>
              </a:rPr>
              <a:t>Pacemakers</a:t>
            </a:r>
            <a:r>
              <a:rPr lang="pt-PT" sz="1350" i="1">
                <a:solidFill>
                  <a:srgbClr val="334155"/>
                </a:solidFill>
                <a:latin typeface="Arial"/>
                <a:ea typeface="Arial"/>
                <a:cs typeface="Arial"/>
              </a:rPr>
              <a:t> </a:t>
            </a: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(IEC 62304)</a:t>
            </a:r>
            <a:endParaRPr lang="pt-PT" sz="1350"/>
          </a:p>
          <a:p>
            <a:pPr marL="0" indent="0" algn="l">
              <a:lnSpc>
                <a:spcPts val="2098"/>
              </a:lnSpc>
              <a:spcAft>
                <a:spcPts val="448"/>
              </a:spcAft>
              <a:buNone/>
              <a:defRPr/>
            </a:pPr>
            <a:r>
              <a:rPr lang="pt-PT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Automóvel</a:t>
            </a: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Sistemas de travagem</a:t>
            </a:r>
            <a:endParaRPr lang="pt-PT" sz="1350"/>
          </a:p>
        </p:txBody>
      </p:sp>
      <p:sp>
        <p:nvSpPr>
          <p:cNvPr id="945087383" name="Text 3"/>
          <p:cNvSpPr/>
          <p:nvPr/>
        </p:nvSpPr>
        <p:spPr bwMode="auto">
          <a:xfrm flipH="0" flipV="0">
            <a:off x="5707501" y="3901478"/>
            <a:ext cx="4854555" cy="365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8"/>
              </a:lnSpc>
              <a:spcBef>
                <a:spcPts val="1123"/>
              </a:spcBef>
              <a:spcAft>
                <a:spcPts val="748"/>
              </a:spcAft>
              <a:buNone/>
              <a:defRPr/>
            </a:pPr>
            <a:r>
              <a:rPr lang="pt-BR" sz="22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Assembler:</a:t>
            </a:r>
            <a:endParaRPr lang="pt-PT" sz="2200"/>
          </a:p>
        </p:txBody>
      </p:sp>
      <p:sp>
        <p:nvSpPr>
          <p:cNvPr id="398064753" name="Text 4"/>
          <p:cNvSpPr/>
          <p:nvPr/>
        </p:nvSpPr>
        <p:spPr bwMode="auto">
          <a:xfrm flipH="0" flipV="0">
            <a:off x="5768952" y="4373344"/>
            <a:ext cx="5661045" cy="1625598"/>
          </a:xfrm>
          <a:prstGeom prst="rect">
            <a:avLst/>
          </a:prstGeom>
          <a:noFill/>
          <a:ln/>
        </p:spPr>
        <p:txBody>
          <a:bodyPr wrap="square" lIns="119061" tIns="0" rIns="0" bIns="0" rtlCol="0" anchor="t"/>
          <a:lstStyle/>
          <a:p>
            <a:pPr marL="119061" indent="-119061" algn="l">
              <a:lnSpc>
                <a:spcPct val="100000"/>
              </a:lnSpc>
              <a:spcAft>
                <a:spcPts val="448"/>
              </a:spcAft>
              <a:buSzPct val="100000"/>
              <a:buChar char="•"/>
              <a:defRPr/>
            </a:pPr>
            <a:r>
              <a:rPr lang="pt-BR" sz="2400"/>
              <a:t>ARM</a:t>
            </a:r>
            <a:endParaRPr lang="pt-PT"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1182276" name="Text 0"/>
          <p:cNvSpPr/>
          <p:nvPr/>
        </p:nvSpPr>
        <p:spPr bwMode="auto">
          <a:xfrm>
            <a:off x="761999" y="507999"/>
            <a:ext cx="5557266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99"/>
              </a:lnSpc>
              <a:spcAft>
                <a:spcPts val="1874"/>
              </a:spcAft>
              <a:buNone/>
              <a:defRPr/>
            </a:pPr>
            <a:r>
              <a:rPr lang="pt-PT" sz="2700" b="1">
                <a:solidFill>
                  <a:srgbClr val="1E3A8A"/>
                </a:solidFill>
                <a:latin typeface="Arial"/>
                <a:ea typeface="Arial"/>
                <a:cs typeface="Arial"/>
              </a:rPr>
              <a:t>Criptografia e Segurança</a:t>
            </a:r>
            <a:endParaRPr lang="pt-PT" sz="2700"/>
          </a:p>
        </p:txBody>
      </p:sp>
      <p:sp>
        <p:nvSpPr>
          <p:cNvPr id="1614515666" name="Text 1"/>
          <p:cNvSpPr/>
          <p:nvPr/>
        </p:nvSpPr>
        <p:spPr bwMode="auto">
          <a:xfrm>
            <a:off x="761999" y="1523999"/>
            <a:ext cx="5246369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pt-PT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Ataques Auxiliares</a:t>
            </a:r>
            <a:endParaRPr lang="pt-PT" sz="1800"/>
          </a:p>
        </p:txBody>
      </p:sp>
      <p:sp>
        <p:nvSpPr>
          <p:cNvPr id="550385099" name="Text 2"/>
          <p:cNvSpPr/>
          <p:nvPr/>
        </p:nvSpPr>
        <p:spPr bwMode="auto">
          <a:xfrm>
            <a:off x="761999" y="2016720"/>
            <a:ext cx="5143500" cy="16255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Timing attacks</a:t>
            </a:r>
            <a:endParaRPr lang="pt-PT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Cache-timing attacks</a:t>
            </a:r>
            <a:endParaRPr lang="pt-PT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Exploram tempo de execução</a:t>
            </a:r>
            <a:endParaRPr lang="pt-PT" sz="1350"/>
          </a:p>
        </p:txBody>
      </p:sp>
      <p:sp>
        <p:nvSpPr>
          <p:cNvPr id="1262584353" name="Text 3"/>
          <p:cNvSpPr/>
          <p:nvPr/>
        </p:nvSpPr>
        <p:spPr bwMode="auto">
          <a:xfrm>
            <a:off x="761999" y="3832819"/>
            <a:ext cx="5246369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pt-PT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Solução</a:t>
            </a:r>
            <a:endParaRPr lang="pt-PT" sz="1800"/>
          </a:p>
        </p:txBody>
      </p:sp>
      <p:sp>
        <p:nvSpPr>
          <p:cNvPr id="1420489811" name="Text 4"/>
          <p:cNvSpPr/>
          <p:nvPr/>
        </p:nvSpPr>
        <p:spPr bwMode="auto">
          <a:xfrm>
            <a:off x="761998" y="4267197"/>
            <a:ext cx="5143500" cy="5079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Código constant-time</a:t>
            </a:r>
            <a:endParaRPr lang="pt-PT" sz="1350"/>
          </a:p>
        </p:txBody>
      </p:sp>
      <p:sp>
        <p:nvSpPr>
          <p:cNvPr id="1995274182" name="Text 5"/>
          <p:cNvSpPr/>
          <p:nvPr/>
        </p:nvSpPr>
        <p:spPr bwMode="auto">
          <a:xfrm>
            <a:off x="6286500" y="1523999"/>
            <a:ext cx="5246369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pt-PT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Bibliotecas</a:t>
            </a:r>
            <a:endParaRPr lang="pt-PT" sz="1800"/>
          </a:p>
        </p:txBody>
      </p:sp>
      <p:sp>
        <p:nvSpPr>
          <p:cNvPr id="1623337977" name="Text 6"/>
          <p:cNvSpPr/>
          <p:nvPr/>
        </p:nvSpPr>
        <p:spPr bwMode="auto">
          <a:xfrm>
            <a:off x="6286500" y="2016720"/>
            <a:ext cx="5143500" cy="16255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OpenSSL</a:t>
            </a:r>
            <a:endParaRPr lang="pt-PT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libsodium</a:t>
            </a:r>
            <a:endParaRPr lang="pt-PT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Rotinas críticas em Assembly</a:t>
            </a:r>
            <a:endParaRPr lang="pt-PT" sz="1350"/>
          </a:p>
        </p:txBody>
      </p:sp>
      <p:sp>
        <p:nvSpPr>
          <p:cNvPr id="801227939" name="Text 3"/>
          <p:cNvSpPr/>
          <p:nvPr/>
        </p:nvSpPr>
        <p:spPr bwMode="auto">
          <a:xfrm flipH="0" flipV="0">
            <a:off x="5707500" y="3901478"/>
            <a:ext cx="4854555" cy="365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8"/>
              </a:lnSpc>
              <a:spcBef>
                <a:spcPts val="1123"/>
              </a:spcBef>
              <a:spcAft>
                <a:spcPts val="748"/>
              </a:spcAft>
              <a:buNone/>
              <a:defRPr/>
            </a:pPr>
            <a:r>
              <a:rPr lang="pt-BR" sz="22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Assembler:</a:t>
            </a:r>
            <a:endParaRPr lang="pt-PT" sz="2200"/>
          </a:p>
        </p:txBody>
      </p:sp>
      <p:sp>
        <p:nvSpPr>
          <p:cNvPr id="1948063133" name="Text 4"/>
          <p:cNvSpPr/>
          <p:nvPr/>
        </p:nvSpPr>
        <p:spPr bwMode="auto">
          <a:xfrm flipH="0" flipV="0">
            <a:off x="5768952" y="4373343"/>
            <a:ext cx="5661045" cy="1625598"/>
          </a:xfrm>
          <a:prstGeom prst="rect">
            <a:avLst/>
          </a:prstGeom>
          <a:noFill/>
          <a:ln/>
        </p:spPr>
        <p:txBody>
          <a:bodyPr wrap="square" lIns="119061" tIns="0" rIns="0" bIns="0" rtlCol="0" anchor="t"/>
          <a:lstStyle/>
          <a:p>
            <a:pPr marL="119061" indent="-119061" algn="l">
              <a:lnSpc>
                <a:spcPct val="100000"/>
              </a:lnSpc>
              <a:spcAft>
                <a:spcPts val="448"/>
              </a:spcAft>
              <a:buSzPct val="100000"/>
              <a:buChar char="•"/>
              <a:defRPr/>
            </a:pPr>
            <a:r>
              <a:rPr lang="pt-BR" sz="2400"/>
              <a:t>NASM</a:t>
            </a:r>
            <a:endParaRPr lang="pt-BR" sz="2400"/>
          </a:p>
          <a:p>
            <a:pPr marL="119061" indent="-119061" algn="l">
              <a:lnSpc>
                <a:spcPct val="100000"/>
              </a:lnSpc>
              <a:spcAft>
                <a:spcPts val="448"/>
              </a:spcAft>
              <a:buSzPct val="100000"/>
              <a:buChar char="•"/>
              <a:defRPr/>
            </a:pPr>
            <a:r>
              <a:rPr lang="pt-BR" sz="2400"/>
              <a:t>GAS</a:t>
            </a:r>
            <a:endParaRPr lang="pt-BR" sz="2400"/>
          </a:p>
          <a:p>
            <a:pPr marL="119061" indent="-119061" algn="l">
              <a:lnSpc>
                <a:spcPct val="100000"/>
              </a:lnSpc>
              <a:spcAft>
                <a:spcPts val="448"/>
              </a:spcAft>
              <a:buSzPct val="100000"/>
              <a:buChar char="•"/>
              <a:defRPr/>
            </a:pPr>
            <a:r>
              <a:rPr lang="pt-BR" sz="2400"/>
              <a:t>MASM(criptografia)</a:t>
            </a:r>
            <a:endParaRPr lang="pt-PT"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180677" name="Text 0"/>
          <p:cNvSpPr/>
          <p:nvPr/>
        </p:nvSpPr>
        <p:spPr bwMode="auto">
          <a:xfrm>
            <a:off x="761999" y="507999"/>
            <a:ext cx="7189470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99"/>
              </a:lnSpc>
              <a:spcAft>
                <a:spcPts val="1874"/>
              </a:spcAft>
              <a:buNone/>
              <a:defRPr/>
            </a:pPr>
            <a:r>
              <a:rPr lang="pt-PT" sz="2700" b="1">
                <a:solidFill>
                  <a:srgbClr val="1E3A8A"/>
                </a:solidFill>
                <a:latin typeface="Arial"/>
                <a:ea typeface="Arial"/>
                <a:cs typeface="Arial"/>
              </a:rPr>
              <a:t>Drivers, Firmware e Bootloaders</a:t>
            </a:r>
            <a:endParaRPr lang="pt-PT" sz="2700"/>
          </a:p>
        </p:txBody>
      </p:sp>
      <p:sp>
        <p:nvSpPr>
          <p:cNvPr id="869419506" name="Text 1"/>
          <p:cNvSpPr/>
          <p:nvPr/>
        </p:nvSpPr>
        <p:spPr bwMode="auto">
          <a:xfrm>
            <a:off x="761999" y="1333499"/>
            <a:ext cx="10881360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pt-PT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Componentes de Sistema</a:t>
            </a:r>
            <a:endParaRPr lang="pt-PT" sz="1800"/>
          </a:p>
        </p:txBody>
      </p:sp>
      <p:sp>
        <p:nvSpPr>
          <p:cNvPr id="410716698" name="Text 2"/>
          <p:cNvSpPr/>
          <p:nvPr/>
        </p:nvSpPr>
        <p:spPr bwMode="auto">
          <a:xfrm>
            <a:off x="761999" y="1826219"/>
            <a:ext cx="10667999" cy="16255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0" indent="0" algn="l">
              <a:lnSpc>
                <a:spcPts val="2099"/>
              </a:lnSpc>
              <a:spcAft>
                <a:spcPts val="449"/>
              </a:spcAft>
              <a:buNone/>
              <a:defRPr/>
            </a:pPr>
            <a:r>
              <a:rPr lang="pt-PT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Drivers</a:t>
            </a: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Interface hardware ↔ SO</a:t>
            </a:r>
            <a:endParaRPr lang="pt-PT" sz="1350"/>
          </a:p>
          <a:p>
            <a:pPr marL="0" indent="0" algn="l">
              <a:lnSpc>
                <a:spcPts val="2099"/>
              </a:lnSpc>
              <a:spcAft>
                <a:spcPts val="449"/>
              </a:spcAft>
              <a:buNone/>
              <a:defRPr/>
            </a:pPr>
            <a:r>
              <a:rPr lang="pt-PT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Firmware</a:t>
            </a: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Software </a:t>
            </a:r>
            <a:r>
              <a:rPr lang="pt-BR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“</a:t>
            </a: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embe</a:t>
            </a:r>
            <a:r>
              <a:rPr lang="pt-BR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dded”</a:t>
            </a:r>
            <a:endParaRPr lang="pt-PT" sz="1350"/>
          </a:p>
          <a:p>
            <a:pPr marL="0" indent="0" algn="l">
              <a:lnSpc>
                <a:spcPts val="2099"/>
              </a:lnSpc>
              <a:spcAft>
                <a:spcPts val="449"/>
              </a:spcAft>
              <a:buNone/>
              <a:defRPr/>
            </a:pPr>
            <a:r>
              <a:rPr lang="pt-PT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Bootloaders</a:t>
            </a: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Inicialização antes do SO</a:t>
            </a:r>
            <a:endParaRPr lang="pt-PT" sz="1350"/>
          </a:p>
        </p:txBody>
      </p:sp>
      <p:sp>
        <p:nvSpPr>
          <p:cNvPr id="2083943198" name="Text 5"/>
          <p:cNvSpPr/>
          <p:nvPr/>
        </p:nvSpPr>
        <p:spPr bwMode="auto">
          <a:xfrm flipH="0" flipV="0">
            <a:off x="5770305" y="1333498"/>
            <a:ext cx="5990514" cy="365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pt-PT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Requisitos</a:t>
            </a:r>
            <a:endParaRPr lang="pt-PT" sz="1800"/>
          </a:p>
        </p:txBody>
      </p:sp>
      <p:sp>
        <p:nvSpPr>
          <p:cNvPr id="375153658" name="Text 6"/>
          <p:cNvSpPr/>
          <p:nvPr/>
        </p:nvSpPr>
        <p:spPr bwMode="auto">
          <a:xfrm flipH="0" flipV="0">
            <a:off x="5770305" y="1826218"/>
            <a:ext cx="5873053" cy="1066798"/>
          </a:xfrm>
          <a:prstGeom prst="rect">
            <a:avLst/>
          </a:prstGeom>
          <a:noFill/>
          <a:ln/>
        </p:spPr>
        <p:txBody>
          <a:bodyPr wrap="square" lIns="119061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Acesso directo a instruções do CPU</a:t>
            </a:r>
            <a:endParaRPr lang="pt-PT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pt-PT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Gestão de interrupções ao nível do hardware</a:t>
            </a:r>
            <a:endParaRPr lang="pt-PT" sz="1350"/>
          </a:p>
        </p:txBody>
      </p:sp>
      <p:sp>
        <p:nvSpPr>
          <p:cNvPr id="139023793" name="Text 3"/>
          <p:cNvSpPr/>
          <p:nvPr/>
        </p:nvSpPr>
        <p:spPr bwMode="auto">
          <a:xfrm flipH="0" flipV="0">
            <a:off x="761998" y="3901478"/>
            <a:ext cx="4854555" cy="365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8"/>
              </a:lnSpc>
              <a:spcBef>
                <a:spcPts val="1123"/>
              </a:spcBef>
              <a:spcAft>
                <a:spcPts val="748"/>
              </a:spcAft>
              <a:buNone/>
              <a:defRPr/>
            </a:pPr>
            <a:r>
              <a:rPr lang="pt-BR" sz="22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Assembler:</a:t>
            </a:r>
            <a:endParaRPr lang="pt-PT" sz="2200"/>
          </a:p>
        </p:txBody>
      </p:sp>
      <p:sp>
        <p:nvSpPr>
          <p:cNvPr id="1235959105" name="Text 4"/>
          <p:cNvSpPr/>
          <p:nvPr/>
        </p:nvSpPr>
        <p:spPr bwMode="auto">
          <a:xfrm flipH="0" flipV="0">
            <a:off x="823451" y="4373343"/>
            <a:ext cx="5661045" cy="1625598"/>
          </a:xfrm>
          <a:prstGeom prst="rect">
            <a:avLst/>
          </a:prstGeom>
          <a:noFill/>
          <a:ln/>
        </p:spPr>
        <p:txBody>
          <a:bodyPr wrap="square" lIns="119061" tIns="0" rIns="0" bIns="0" rtlCol="0" anchor="t"/>
          <a:lstStyle/>
          <a:p>
            <a:pPr marL="119061" indent="-119061" algn="l">
              <a:lnSpc>
                <a:spcPct val="100000"/>
              </a:lnSpc>
              <a:spcAft>
                <a:spcPts val="448"/>
              </a:spcAft>
              <a:buSzPct val="100000"/>
              <a:buChar char="•"/>
              <a:defRPr/>
            </a:pPr>
            <a:r>
              <a:rPr lang="pt-BR" sz="2400"/>
              <a:t>GAS</a:t>
            </a:r>
            <a:r>
              <a:rPr lang="pt-BR" sz="2400"/>
              <a:t>(Drivers Linux/Unix)</a:t>
            </a:r>
            <a:endParaRPr lang="pt-BR" sz="2400"/>
          </a:p>
          <a:p>
            <a:pPr marL="119061" indent="-119061" algn="l">
              <a:lnSpc>
                <a:spcPct val="100000"/>
              </a:lnSpc>
              <a:spcAft>
                <a:spcPts val="448"/>
              </a:spcAft>
              <a:buSzPct val="100000"/>
              <a:buChar char="•"/>
              <a:defRPr/>
            </a:pPr>
            <a:r>
              <a:rPr lang="pt-BR" sz="2400"/>
              <a:t>MASM(Drivers Windows)</a:t>
            </a:r>
            <a:endParaRPr lang="pt-PT" sz="2400"/>
          </a:p>
          <a:p>
            <a:pPr marL="119061" indent="-119061" algn="l">
              <a:lnSpc>
                <a:spcPct val="100000"/>
              </a:lnSpc>
              <a:spcAft>
                <a:spcPts val="448"/>
              </a:spcAft>
              <a:buSzPct val="100000"/>
              <a:buChar char="•"/>
              <a:defRPr/>
            </a:pPr>
            <a:r>
              <a:rPr lang="pt-BR" sz="2400"/>
              <a:t>NASM(kernels, bootloaders)</a:t>
            </a:r>
            <a:endParaRPr lang="pt-PT"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85545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PT"/>
              <a:t>Assemblers Comparison</a:t>
            </a:r>
            <a:endParaRPr lang="pt-PT"/>
          </a:p>
        </p:txBody>
      </p:sp>
      <p:graphicFrame>
        <p:nvGraphicFramePr>
          <p:cNvPr id="1396174709" name=""/>
          <p:cNvGraphicFramePr>
            <a:graphicFrameLocks xmlns:a="http://schemas.openxmlformats.org/drawingml/2006/main"/>
          </p:cNvGraphicFramePr>
          <p:nvPr>
            <p:ph idx="1"/>
          </p:nvPr>
        </p:nvGraphicFramePr>
        <p:xfrm rot="0">
          <a:off x="838197" y="1562552"/>
          <a:ext cx="10439736" cy="474833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085408"/>
                <a:gridCol w="1604592"/>
                <a:gridCol w="2430000"/>
                <a:gridCol w="1710000"/>
                <a:gridCol w="2597036"/>
              </a:tblGrid>
              <a:tr h="642700"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pt-PT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Assembler</a:t>
                      </a:r>
                      <a:endParaRPr lang="pt-PT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pt-PT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Syntax</a:t>
                      </a:r>
                      <a:endParaRPr lang="pt-PT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pt-PT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Arquitecture</a:t>
                      </a:r>
                      <a:endParaRPr lang="pt-PT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pt-PT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Platform</a:t>
                      </a:r>
                      <a:endParaRPr lang="pt-PT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pt-PT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Use/Notes</a:t>
                      </a:r>
                      <a:endParaRPr lang="pt-PT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NASM (Netwide Assembler)</a:t>
                      </a:r>
                      <a:endParaRPr lang="pt-PT"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/>
                        <a:t>Intel</a:t>
                      </a:r>
                      <a:endParaRPr lang="pt-PT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16, 32, 64 bits</a:t>
                      </a:r>
                      <a:endParaRPr lang="pt-PT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Linux, Windows, macOS</a:t>
                      </a:r>
                      <a:r>
                        <a:rPr lang="pt-PT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, DOS</a:t>
                      </a:r>
                      <a:endParaRPr lang="pt-PT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Kernels and bootloaders</a:t>
                      </a:r>
                      <a:endParaRPr lang="pt-PT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  <a:tr h="619920"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MASM (Microsoft Macro Assembler)</a:t>
                      </a:r>
                      <a:endParaRPr lang="pt-PT"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/>
                        <a:t>Intel</a:t>
                      </a:r>
                      <a:endParaRPr lang="pt-PT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16, 32, 64 bits</a:t>
                      </a:r>
                      <a:endParaRPr lang="pt-PT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Windows, </a:t>
                      </a:r>
                      <a:endParaRPr lang="pt-PT" sz="1800" b="0" i="0" u="none" strike="noStrike" cap="none" spc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MS-DOS</a:t>
                      </a:r>
                      <a:endParaRPr lang="pt-PT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Drivers</a:t>
                      </a:r>
                      <a:endParaRPr lang="pt-PT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GAS (GNU Assembler)</a:t>
                      </a:r>
                      <a:endParaRPr lang="pt-PT"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/>
                        <a:t>AT&amp;T, Intel</a:t>
                      </a:r>
                      <a:endParaRPr lang="pt-PT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x86, ARM, MIPS, RISC- V, SPARC</a:t>
                      </a:r>
                      <a:endParaRPr lang="pt-PT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Linux/Unix</a:t>
                      </a:r>
                      <a:endParaRPr lang="pt-PT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Standard in kernels on Linux/Unix systems</a:t>
                      </a:r>
                      <a:endParaRPr lang="pt-PT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GAS (ARM)</a:t>
                      </a:r>
                      <a:endParaRPr lang="pt-PT"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/>
                        <a:t>ARM</a:t>
                      </a:r>
                      <a:endParaRPr lang="pt-PT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ARM32/ARM64</a:t>
                      </a:r>
                      <a:endParaRPr lang="pt-PT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Linux/Android</a:t>
                      </a:r>
                      <a:endParaRPr lang="pt-PT" sz="1800" b="0" i="0" u="none" strike="noStrike" cap="none" spc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Sistemas Linux de ARM</a:t>
                      </a:r>
                      <a:endParaRPr lang="pt-PT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 e Android</a:t>
                      </a:r>
                      <a:endParaRPr lang="pt-PT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ARMASM</a:t>
                      </a:r>
                      <a:endParaRPr lang="pt-PT"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ARM</a:t>
                      </a:r>
                      <a:endParaRPr lang="pt-PT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ARM32/ARM64</a:t>
                      </a:r>
                      <a:endParaRPr lang="pt-PT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Windows, Linux</a:t>
                      </a:r>
                      <a:endParaRPr lang="pt-PT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Embedded Systems</a:t>
                      </a:r>
                      <a:endParaRPr lang="pt-PT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LLVM / Clang ASM</a:t>
                      </a:r>
                      <a:endParaRPr lang="pt-PT"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/>
                        <a:t>ARM</a:t>
                      </a:r>
                      <a:endParaRPr lang="pt-PT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ARM64</a:t>
                      </a:r>
                      <a:endParaRPr lang="pt-PT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Linux, </a:t>
                      </a:r>
                      <a:r>
                        <a:rPr lang="pt-PT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Android</a:t>
                      </a:r>
                      <a:r>
                        <a:rPr lang="pt-PT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, </a:t>
                      </a:r>
                      <a:r>
                        <a:rPr lang="pt-PT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i</a:t>
                      </a:r>
                      <a:r>
                        <a:rPr lang="pt-PT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OS</a:t>
                      </a:r>
                      <a:endParaRPr lang="pt-PT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PT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Modern Mobile and </a:t>
                      </a: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Iphones</a:t>
                      </a:r>
                      <a:endParaRPr lang="pt-PT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ONLYOFFICE/9.1.0.173</Application>
  <PresentationFormat>On-screen Show (4:3)</PresentationFormat>
  <Paragraphs>0</Paragraphs>
  <Slides>9</Slides>
  <Notes>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Assembly</dc:title>
  <dc:creator>Filipe Dantas</dc:creator>
  <cp:lastModifiedBy/>
  <cp:revision>6</cp:revision>
  <dcterms:created xsi:type="dcterms:W3CDTF">2026-01-15T15:12:53Z</dcterms:created>
  <dcterms:modified xsi:type="dcterms:W3CDTF">2026-01-19T15:10:08Z</dcterms:modified>
</cp:coreProperties>
</file>